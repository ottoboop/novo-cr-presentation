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ia-educacao-v2.onrender.com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OttoBoop/novo-cr-presentation/blob/main/reports/01_correcao_otavio.pdf" TargetMode="Externa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OttoBoop/novo-cr-presentation/blob/main/reports/04_desempenho_tarefa.pdf" TargetMode="Externa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OttoBoop/novo-cr-presentation/blob/main/reports/01_correcao_otavio.pdf" TargetMode="External"/><Relationship Id="rId3" Type="http://schemas.openxmlformats.org/officeDocument/2006/relationships/hyperlink" Target="https://github.com/OttoBoop/novo-cr-presentation/blob/main/reports/02_analise_habilidades_otavio.pdf" TargetMode="External"/><Relationship Id="rId4" Type="http://schemas.openxmlformats.org/officeDocument/2006/relationships/hyperlink" Target="https://github.com/OttoBoop/novo-cr-presentation/blob/main/reports/03_relatorio_final_otavio.pdf" TargetMode="External"/><Relationship Id="rId5" Type="http://schemas.openxmlformats.org/officeDocument/2006/relationships/hyperlink" Target="https://github.com/OttoBoop/novo-cr-presentation/blob/main/reports/04_desempenho_tarefa.pdf" TargetMode="External"/><Relationship Id="rId6" Type="http://schemas.openxmlformats.org/officeDocument/2006/relationships/hyperlink" Target="https://github.com/OttoBoop/novo-cr-presentation/blob/main/reports/05_desempenho_turma.pdf" TargetMode="External"/><Relationship Id="rId7" Type="http://schemas.openxmlformats.org/officeDocument/2006/relationships/hyperlink" Target="https://github.com/OttoBoop/novo-cr-presentation/blob/main/reports/06_desempenho_materia.pdf" TargetMode="Externa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2B5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572000" cy="6858000"/>
          </a:xfrm>
          <a:prstGeom prst="rect">
            <a:avLst/>
          </a:prstGeom>
          <a:solidFill>
            <a:srgbClr val="0020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200" b="1">
                <a:solidFill>
                  <a:srgbClr val="FFFFFF"/>
                </a:solidFill>
                <a:latin typeface="Segoe UI"/>
              </a:defRPr>
            </a:pPr>
            <a:r>
              <a:t>NOVO CR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92608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0">
                <a:solidFill>
                  <a:srgbClr val="4A90D9"/>
                </a:solidFill>
                <a:latin typeface="Georgia"/>
              </a:defRPr>
            </a:pPr>
            <a:r>
              <a:t>Mais que um Número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0" y="3840480"/>
            <a:ext cx="2103120" cy="36576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28800" y="420624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AABBCC"/>
                </a:solidFill>
                <a:latin typeface="Segoe UI"/>
              </a:defRPr>
            </a:pPr>
            <a:r>
              <a:t>Sistema de Correção Automatizada com IA</a:t>
            </a:r>
            <a:br/>
            <a:r>
              <a:t>Potencializando professores, não substituindo.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566928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u="sng">
                <a:solidFill>
                  <a:srgbClr val="4A90D9"/>
                </a:solidFill>
                <a:latin typeface="Segoe UI"/>
                <a:hlinkClick r:id="rId2"/>
              </a:rPr>
              <a:t>ia-educacao-v2.onrender.com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2B5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926080"/>
            <a:ext cx="12191695" cy="54864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  <a:latin typeface="Segoe UI"/>
              </a:defRPr>
            </a:pPr>
            <a:r>
              <a:t>Problema e Filosofia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2004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4A90D9"/>
                </a:solidFill>
                <a:latin typeface="Segoe UI"/>
              </a:defRPr>
            </a:pPr>
            <a:r>
              <a:t>Por que o NOVO CR existe e como ele é diferente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5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002B5C"/>
                </a:solidFill>
                <a:latin typeface="Segoe UI"/>
              </a:defRPr>
            </a:pPr>
            <a:r>
              <a:t>O Problema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960120"/>
            <a:ext cx="2743200" cy="36576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18872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60"/>
              </a:spcAft>
              <a:defRPr sz="1600" b="1">
                <a:solidFill>
                  <a:srgbClr val="002B5C"/>
                </a:solidFill>
                <a:latin typeface="Segoe UI"/>
              </a:defRPr>
            </a:pPr>
            <a:r>
              <a:t>O que acontece hoje na correção de provas?</a:t>
            </a:r>
          </a:p>
          <a:p>
            <a:pPr>
              <a:spcAft>
                <a:spcPts val="960"/>
              </a:spcAft>
              <a:defRPr sz="1600" b="0">
                <a:solidFill>
                  <a:srgbClr val="333333"/>
                </a:solidFill>
                <a:latin typeface="Segoe UI"/>
              </a:defRPr>
            </a:pPr>
          </a:p>
          <a:p>
            <a:pPr>
              <a:spcAft>
                <a:spcPts val="960"/>
              </a:spcAft>
              <a:defRPr sz="1600" b="0">
                <a:solidFill>
                  <a:srgbClr val="333333"/>
                </a:solidFill>
                <a:latin typeface="Segoe UI"/>
              </a:defRPr>
            </a:pPr>
            <a:r>
              <a:t>•  Professores corrigem dezenas de provas entre uma aula e outra</a:t>
            </a:r>
          </a:p>
          <a:p>
            <a:pPr>
              <a:spcAft>
                <a:spcPts val="960"/>
              </a:spcAft>
              <a:defRPr sz="1600" b="0">
                <a:solidFill>
                  <a:srgbClr val="333333"/>
                </a:solidFill>
                <a:latin typeface="Segoe UI"/>
              </a:defRPr>
            </a:pPr>
            <a:r>
              <a:t>•  Feedback para o aluno se resume a uma nota numérica</a:t>
            </a:r>
          </a:p>
          <a:p>
            <a:pPr>
              <a:spcAft>
                <a:spcPts val="960"/>
              </a:spcAft>
              <a:defRPr sz="1600" b="0">
                <a:solidFill>
                  <a:srgbClr val="333333"/>
                </a:solidFill>
                <a:latin typeface="Segoe UI"/>
              </a:defRPr>
            </a:pPr>
            <a:r>
              <a:t>•  Não há tempo para analisar padrões de aprendizado da turma</a:t>
            </a:r>
          </a:p>
          <a:p>
            <a:pPr>
              <a:spcAft>
                <a:spcPts val="960"/>
              </a:spcAft>
              <a:defRPr sz="1600" b="0">
                <a:solidFill>
                  <a:srgbClr val="333333"/>
                </a:solidFill>
                <a:latin typeface="Segoe UI"/>
              </a:defRPr>
            </a:pPr>
            <a:r>
              <a:t>•  Ferramentas automáticas substituem o professor — ou entregam checklists</a:t>
            </a:r>
          </a:p>
          <a:p>
            <a:pPr>
              <a:spcAft>
                <a:spcPts val="960"/>
              </a:spcAft>
              <a:defRPr sz="1600" b="0">
                <a:solidFill>
                  <a:srgbClr val="333333"/>
                </a:solidFill>
                <a:latin typeface="Segoe UI"/>
              </a:defRPr>
            </a:pPr>
          </a:p>
          <a:p>
            <a:pPr>
              <a:spcAft>
                <a:spcPts val="960"/>
              </a:spcAft>
              <a:defRPr sz="1600" b="1">
                <a:solidFill>
                  <a:srgbClr val="0056A0"/>
                </a:solidFill>
                <a:latin typeface="Segoe UI"/>
              </a:defRPr>
            </a:pPr>
            <a:r>
              <a:t>O professor precisa de tempo, não de mais uma ferramenta</a:t>
            </a:r>
            <a:br/>
            <a:r>
              <a:t>que ele precisa aprender a usar.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2B5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1828800"/>
            <a:ext cx="91440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FFFFFF"/>
                </a:solidFill>
                <a:latin typeface="Georgia"/>
              </a:defRPr>
            </a:pPr>
            <a:r>
              <a:t>"A IA assiste professores — ela não toma decisões finais.</a:t>
            </a:r>
            <a:br/>
            <a:r>
              <a:t>Professores sempre podem sobrescrever."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411480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4A90D9"/>
                </a:solidFill>
                <a:latin typeface="Segoe UI"/>
              </a:defRPr>
            </a:pPr>
            <a:r>
              <a:t>— Filosofia de Design, NOVO CR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5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002B5C"/>
                </a:solidFill>
                <a:latin typeface="Segoe UI"/>
              </a:defRPr>
            </a:pPr>
            <a:r>
              <a:t>Potencializar, Não Substituir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960120"/>
            <a:ext cx="2743200" cy="36576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18872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60"/>
              </a:spcAft>
              <a:defRPr sz="1600" b="1">
                <a:solidFill>
                  <a:srgbClr val="002B5C"/>
                </a:solidFill>
                <a:latin typeface="Segoe UI"/>
              </a:defRPr>
            </a:pPr>
            <a:r>
              <a:t>NOVO CR potencializa a correção do professor.</a:t>
            </a:r>
          </a:p>
          <a:p>
            <a:pPr>
              <a:spcAft>
                <a:spcPts val="960"/>
              </a:spcAft>
              <a:defRPr sz="1600" b="0">
                <a:solidFill>
                  <a:srgbClr val="333333"/>
                </a:solidFill>
                <a:latin typeface="Segoe UI"/>
              </a:defRPr>
            </a:pPr>
          </a:p>
          <a:p>
            <a:pPr>
              <a:spcAft>
                <a:spcPts val="960"/>
              </a:spcAft>
              <a:defRPr sz="1600" b="0">
                <a:solidFill>
                  <a:srgbClr val="333333"/>
                </a:solidFill>
                <a:latin typeface="Segoe UI"/>
              </a:defRPr>
            </a:pPr>
            <a:r>
              <a:t>•  A IA assiste o professor. Ela nunca toma decisões finais.</a:t>
            </a:r>
          </a:p>
          <a:p>
            <a:pPr>
              <a:spcAft>
                <a:spcPts val="960"/>
              </a:spcAft>
              <a:defRPr sz="1600" b="0">
                <a:solidFill>
                  <a:srgbClr val="333333"/>
                </a:solidFill>
                <a:latin typeface="Segoe UI"/>
              </a:defRPr>
            </a:pPr>
            <a:r>
              <a:t>•  O professor pode sempre revisar, modificar e sobrescrever qualquer resultado.</a:t>
            </a:r>
          </a:p>
          <a:p>
            <a:pPr>
              <a:spcAft>
                <a:spcPts val="960"/>
              </a:spcAft>
              <a:defRPr sz="1600" b="0">
                <a:solidFill>
                  <a:srgbClr val="333333"/>
                </a:solidFill>
                <a:latin typeface="Segoe UI"/>
              </a:defRPr>
            </a:pPr>
            <a:r>
              <a:t>•  O sistema foi desenhado para que o professor não precise aprender IA.</a:t>
            </a:r>
          </a:p>
          <a:p>
            <a:pPr>
              <a:spcAft>
                <a:spcPts val="960"/>
              </a:spcAft>
              <a:defRPr sz="1600" b="0">
                <a:solidFill>
                  <a:srgbClr val="333333"/>
                </a:solidFill>
                <a:latin typeface="Segoe UI"/>
              </a:defRPr>
            </a:pPr>
            <a:r>
              <a:t>•  Primeiro uso: zero configuração.</a:t>
            </a:r>
          </a:p>
          <a:p>
            <a:pPr>
              <a:spcAft>
                <a:spcPts val="960"/>
              </a:spcAft>
              <a:defRPr sz="1600" b="0">
                <a:solidFill>
                  <a:srgbClr val="333333"/>
                </a:solidFill>
                <a:latin typeface="Segoe UI"/>
              </a:defRPr>
            </a:pPr>
          </a:p>
          <a:p>
            <a:pPr>
              <a:spcAft>
                <a:spcPts val="960"/>
              </a:spcAft>
              <a:defRPr sz="1600" b="0">
                <a:solidFill>
                  <a:srgbClr val="666666"/>
                </a:solidFill>
                <a:latin typeface="Segoe UI"/>
              </a:defRPr>
            </a:pPr>
            <a:r>
              <a:t>Revelação progressiva: mostre o essencial primeiro,</a:t>
            </a:r>
          </a:p>
          <a:p>
            <a:pPr>
              <a:spcAft>
                <a:spcPts val="960"/>
              </a:spcAft>
              <a:defRPr sz="1600" b="0">
                <a:solidFill>
                  <a:srgbClr val="666666"/>
                </a:solidFill>
                <a:latin typeface="Segoe UI"/>
              </a:defRPr>
            </a:pPr>
            <a:r>
              <a:t>revele complexidade sob demanda.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5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002B5C"/>
                </a:solidFill>
                <a:latin typeface="Segoe UI"/>
              </a:defRPr>
            </a:pPr>
            <a:r>
              <a:t>Mais que um Número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960120"/>
            <a:ext cx="2743200" cy="36576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18872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60"/>
              </a:spcAft>
              <a:defRPr sz="1600" b="1">
                <a:solidFill>
                  <a:srgbClr val="002B5C"/>
                </a:solidFill>
                <a:latin typeface="Segoe UI"/>
              </a:defRPr>
            </a:pPr>
            <a:r>
              <a:t>Alunos são mais que seu CR (Coeficiente de Rendimento).</a:t>
            </a:r>
          </a:p>
          <a:p>
            <a:pPr>
              <a:spcAft>
                <a:spcPts val="960"/>
              </a:spcAft>
              <a:defRPr sz="1600" b="0">
                <a:solidFill>
                  <a:srgbClr val="333333"/>
                </a:solidFill>
                <a:latin typeface="Segoe UI"/>
              </a:defRPr>
            </a:pPr>
          </a:p>
          <a:p>
            <a:pPr>
              <a:spcAft>
                <a:spcPts val="960"/>
              </a:spcAft>
              <a:defRPr sz="1600" b="0">
                <a:solidFill>
                  <a:srgbClr val="333333"/>
                </a:solidFill>
                <a:latin typeface="Segoe UI"/>
              </a:defRPr>
            </a:pPr>
            <a:r>
              <a:t>•  O nome "NOVO CR" fala a linguagem das universidades —</a:t>
            </a:r>
          </a:p>
          <a:p>
            <a:pPr>
              <a:spcAft>
                <a:spcPts val="960"/>
              </a:spcAft>
              <a:defRPr sz="1600" b="0">
                <a:solidFill>
                  <a:srgbClr val="333333"/>
                </a:solidFill>
                <a:latin typeface="Segoe UI"/>
              </a:defRPr>
            </a:pPr>
            <a:r>
              <a:t>   administradores e coordenadores pensam em termos de CR.</a:t>
            </a:r>
          </a:p>
          <a:p>
            <a:pPr>
              <a:spcAft>
                <a:spcPts val="960"/>
              </a:spcAft>
              <a:defRPr sz="1600" b="0">
                <a:solidFill>
                  <a:srgbClr val="333333"/>
                </a:solidFill>
                <a:latin typeface="Segoe UI"/>
              </a:defRPr>
            </a:pPr>
          </a:p>
          <a:p>
            <a:pPr>
              <a:spcAft>
                <a:spcPts val="960"/>
              </a:spcAft>
              <a:defRPr sz="1600" b="0">
                <a:solidFill>
                  <a:srgbClr val="333333"/>
                </a:solidFill>
                <a:latin typeface="Segoe UI"/>
              </a:defRPr>
            </a:pPr>
            <a:r>
              <a:t>•  Mas o sistema entrega muito mais que uma nota:</a:t>
            </a:r>
          </a:p>
          <a:p>
            <a:pPr>
              <a:spcAft>
                <a:spcPts val="960"/>
              </a:spcAft>
              <a:defRPr sz="1600" b="1">
                <a:solidFill>
                  <a:srgbClr val="0056A0"/>
                </a:solidFill>
                <a:latin typeface="Segoe UI"/>
              </a:defRPr>
            </a:pPr>
            <a:r>
              <a:t>   entrega narrativas pedagógicas.</a:t>
            </a:r>
          </a:p>
          <a:p>
            <a:pPr>
              <a:spcAft>
                <a:spcPts val="960"/>
              </a:spcAft>
              <a:defRPr sz="1600" b="0">
                <a:solidFill>
                  <a:srgbClr val="333333"/>
                </a:solidFill>
                <a:latin typeface="Segoe UI"/>
              </a:defRPr>
            </a:pPr>
          </a:p>
          <a:p>
            <a:pPr>
              <a:spcAft>
                <a:spcPts val="960"/>
              </a:spcAft>
              <a:defRPr sz="1600" b="0">
                <a:solidFill>
                  <a:srgbClr val="333333"/>
                </a:solidFill>
                <a:latin typeface="Segoe UI"/>
              </a:defRPr>
            </a:pPr>
            <a:r>
              <a:t>•  Cada relatório conta a história do raciocínio do aluno,</a:t>
            </a:r>
          </a:p>
          <a:p>
            <a:pPr>
              <a:spcAft>
                <a:spcPts val="960"/>
              </a:spcAft>
              <a:defRPr sz="1600" b="0">
                <a:solidFill>
                  <a:srgbClr val="333333"/>
                </a:solidFill>
                <a:latin typeface="Segoe UI"/>
              </a:defRPr>
            </a:pPr>
            <a:r>
              <a:t>   seus erros, seu potencial.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5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002B5C"/>
                </a:solidFill>
                <a:latin typeface="Segoe UI"/>
              </a:defRPr>
            </a:pPr>
            <a:r>
              <a:t>Narrativa Pedagógica, Não Checklists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960120"/>
            <a:ext cx="2743200" cy="36576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18872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60"/>
              </a:spcAft>
              <a:defRPr sz="1600" b="1">
                <a:solidFill>
                  <a:srgbClr val="C0392B"/>
                </a:solidFill>
                <a:latin typeface="Segoe UI"/>
              </a:defRPr>
            </a:pPr>
            <a:r>
              <a:t>ANTES:</a:t>
            </a:r>
          </a:p>
          <a:p>
            <a:pPr>
              <a:spcAft>
                <a:spcPts val="960"/>
              </a:spcAft>
              <a:defRPr sz="1600" b="0">
                <a:solidFill>
                  <a:srgbClr val="333333"/>
                </a:solidFill>
                <a:latin typeface="Segoe UI"/>
              </a:defRPr>
            </a:pPr>
            <a:r>
              <a:t>   ✗  Checklist superficial: "acertou / errou / parcial"</a:t>
            </a:r>
          </a:p>
          <a:p>
            <a:pPr>
              <a:spcAft>
                <a:spcPts val="960"/>
              </a:spcAft>
              <a:defRPr sz="1600" b="0">
                <a:solidFill>
                  <a:srgbClr val="333333"/>
                </a:solidFill>
                <a:latin typeface="Segoe UI"/>
              </a:defRPr>
            </a:pPr>
            <a:r>
              <a:t>   ✗  Sem análise do raciocínio do aluno</a:t>
            </a:r>
          </a:p>
          <a:p>
            <a:pPr>
              <a:spcAft>
                <a:spcPts val="960"/>
              </a:spcAft>
              <a:defRPr sz="1600" b="0">
                <a:solidFill>
                  <a:srgbClr val="333333"/>
                </a:solidFill>
                <a:latin typeface="Segoe UI"/>
              </a:defRPr>
            </a:pPr>
            <a:r>
              <a:t>   ✗  Notas já fazem isso — o relatório deveria contar a história</a:t>
            </a:r>
          </a:p>
          <a:p>
            <a:pPr>
              <a:spcAft>
                <a:spcPts val="960"/>
              </a:spcAft>
              <a:defRPr sz="1600" b="0">
                <a:solidFill>
                  <a:srgbClr val="333333"/>
                </a:solidFill>
                <a:latin typeface="Segoe UI"/>
              </a:defRPr>
            </a:pPr>
          </a:p>
          <a:p>
            <a:pPr>
              <a:spcAft>
                <a:spcPts val="960"/>
              </a:spcAft>
              <a:defRPr sz="1600" b="1">
                <a:solidFill>
                  <a:srgbClr val="1B8A4A"/>
                </a:solidFill>
                <a:latin typeface="Segoe UI"/>
              </a:defRPr>
            </a:pPr>
            <a:r>
              <a:t>AGORA — Arquitetura narrativa em 3 níveis:</a:t>
            </a:r>
          </a:p>
          <a:p>
            <a:pPr>
              <a:spcAft>
                <a:spcPts val="960"/>
              </a:spcAft>
              <a:defRPr sz="1600" b="0">
                <a:solidFill>
                  <a:srgbClr val="333333"/>
                </a:solidFill>
                <a:latin typeface="Segoe UI"/>
              </a:defRPr>
            </a:pPr>
            <a:r>
              <a:t>   1.  Microscópio por questão — o que o aluno pensava, tipo de erro</a:t>
            </a:r>
          </a:p>
          <a:p>
            <a:pPr>
              <a:spcAft>
                <a:spcPts val="960"/>
              </a:spcAft>
              <a:defRPr sz="1600" b="0">
                <a:solidFill>
                  <a:srgbClr val="333333"/>
                </a:solidFill>
                <a:latin typeface="Segoe UI"/>
              </a:defRPr>
            </a:pPr>
            <a:r>
              <a:t>   2.  Síntese de padrões — perfil de habilidades, consistência</a:t>
            </a:r>
          </a:p>
          <a:p>
            <a:pPr>
              <a:spcAft>
                <a:spcPts val="960"/>
              </a:spcAft>
              <a:defRPr sz="1600" b="0">
                <a:solidFill>
                  <a:srgbClr val="333333"/>
                </a:solidFill>
                <a:latin typeface="Segoe UI"/>
              </a:defRPr>
            </a:pPr>
            <a:r>
              <a:t>   3.  Narrativa holística — visão geral primeiro, detalhes depois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2B5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1828800"/>
            <a:ext cx="91440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FFFFFF"/>
                </a:solidFill>
                <a:latin typeface="Georgia"/>
              </a:defRPr>
            </a:pPr>
            <a:r>
              <a:t>"Notas já lidam com números;</a:t>
            </a:r>
            <a:br/>
            <a:r>
              <a:t>este relatório conta a história</a:t>
            </a:r>
            <a:br/>
            <a:r>
              <a:t>da aprendizagem da turma."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411480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4A90D9"/>
                </a:solidFill>
                <a:latin typeface="Segoe UI"/>
              </a:defRPr>
            </a:pPr>
            <a:r>
              <a:t>— Filosofia de Design, NOVO CR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5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002B5C"/>
                </a:solidFill>
                <a:latin typeface="Segoe UI"/>
              </a:defRPr>
            </a:pPr>
            <a:r>
              <a:t>Confiança Através da Transparência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960120"/>
            <a:ext cx="2743200" cy="36576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18872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60"/>
              </a:spcAft>
              <a:defRPr sz="1600" b="1">
                <a:solidFill>
                  <a:srgbClr val="002B5C"/>
                </a:solidFill>
                <a:latin typeface="Segoe UI"/>
              </a:defRPr>
            </a:pPr>
            <a:r>
              <a:t>Nunca uma caixa preta.</a:t>
            </a:r>
          </a:p>
          <a:p>
            <a:pPr>
              <a:spcAft>
                <a:spcPts val="960"/>
              </a:spcAft>
              <a:defRPr sz="1600" b="0">
                <a:solidFill>
                  <a:srgbClr val="333333"/>
                </a:solidFill>
                <a:latin typeface="Segoe UI"/>
              </a:defRPr>
            </a:pPr>
          </a:p>
          <a:p>
            <a:pPr>
              <a:spcAft>
                <a:spcPts val="960"/>
              </a:spcAft>
              <a:defRPr sz="1600" b="0">
                <a:solidFill>
                  <a:srgbClr val="333333"/>
                </a:solidFill>
                <a:latin typeface="Segoe UI"/>
              </a:defRPr>
            </a:pPr>
            <a:r>
              <a:t>•  Cada etapa do pipeline gera um documento visível e editável</a:t>
            </a:r>
          </a:p>
          <a:p>
            <a:pPr>
              <a:spcAft>
                <a:spcPts val="960"/>
              </a:spcAft>
              <a:defRPr sz="1600" b="0">
                <a:solidFill>
                  <a:srgbClr val="333333"/>
                </a:solidFill>
                <a:latin typeface="Segoe UI"/>
              </a:defRPr>
            </a:pPr>
            <a:r>
              <a:t>•  O professor vê exatamente o que a IA produziu em cada passo</a:t>
            </a:r>
          </a:p>
          <a:p>
            <a:pPr>
              <a:spcAft>
                <a:spcPts val="960"/>
              </a:spcAft>
              <a:defRPr sz="1600" b="0">
                <a:solidFill>
                  <a:srgbClr val="333333"/>
                </a:solidFill>
                <a:latin typeface="Segoe UI"/>
              </a:defRPr>
            </a:pPr>
            <a:r>
              <a:t>•  A qualidade da IA é verificada por humanos antes de ser liberada</a:t>
            </a:r>
          </a:p>
          <a:p>
            <a:pPr>
              <a:spcAft>
                <a:spcPts val="960"/>
              </a:spcAft>
              <a:defRPr sz="1600" b="0">
                <a:solidFill>
                  <a:srgbClr val="333333"/>
                </a:solidFill>
                <a:latin typeface="Segoe UI"/>
              </a:defRPr>
            </a:pPr>
            <a:r>
              <a:t>•  Resultados que o professor pode confiar e defender para os alunos</a:t>
            </a:r>
          </a:p>
          <a:p>
            <a:pPr>
              <a:spcAft>
                <a:spcPts val="960"/>
              </a:spcAft>
              <a:defRPr sz="1600" b="0">
                <a:solidFill>
                  <a:srgbClr val="333333"/>
                </a:solidFill>
                <a:latin typeface="Segoe UI"/>
              </a:defRPr>
            </a:pPr>
          </a:p>
          <a:p>
            <a:pPr>
              <a:spcAft>
                <a:spcPts val="960"/>
              </a:spcAft>
              <a:defRPr sz="1600" b="1">
                <a:solidFill>
                  <a:srgbClr val="0056A0"/>
                </a:solidFill>
                <a:latin typeface="Segoe UI"/>
              </a:defRPr>
            </a:pPr>
            <a:r>
              <a:t>Cada decisão de design responde a:</a:t>
            </a:r>
          </a:p>
          <a:p>
            <a:pPr>
              <a:spcAft>
                <a:spcPts val="960"/>
              </a:spcAft>
              <a:defRPr sz="1600" b="0">
                <a:solidFill>
                  <a:srgbClr val="333333"/>
                </a:solidFill>
                <a:latin typeface="Segoe UI"/>
              </a:defRPr>
            </a:pPr>
            <a:r>
              <a:t>   1. Isso dá aos alunos mais feedback?</a:t>
            </a:r>
          </a:p>
          <a:p>
            <a:pPr>
              <a:spcAft>
                <a:spcPts val="960"/>
              </a:spcAft>
              <a:defRPr sz="1600" b="0">
                <a:solidFill>
                  <a:srgbClr val="333333"/>
                </a:solidFill>
                <a:latin typeface="Segoe UI"/>
              </a:defRPr>
            </a:pPr>
            <a:r>
              <a:t>   2. Isso permite relatórios mais abrangentes?</a:t>
            </a:r>
          </a:p>
          <a:p>
            <a:pPr>
              <a:spcAft>
                <a:spcPts val="960"/>
              </a:spcAft>
              <a:defRPr sz="1600" b="0">
                <a:solidFill>
                  <a:srgbClr val="333333"/>
                </a:solidFill>
                <a:latin typeface="Segoe UI"/>
              </a:defRPr>
            </a:pPr>
            <a:r>
              <a:t>   3. Isso ajuda professores a entender o progresso dos alunos?</a:t>
            </a:r>
          </a:p>
          <a:p>
            <a:pPr>
              <a:spcAft>
                <a:spcPts val="960"/>
              </a:spcAft>
              <a:defRPr sz="1600" b="0">
                <a:solidFill>
                  <a:srgbClr val="333333"/>
                </a:solidFill>
                <a:latin typeface="Segoe UI"/>
              </a:defRPr>
            </a:pPr>
            <a:r>
              <a:t>   4. Isso torna a correção mais eficiente sem sacrificar qualidade?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5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002B5C"/>
                </a:solidFill>
                <a:latin typeface="Segoe UI"/>
              </a:defRPr>
            </a:pPr>
            <a:r>
              <a:t>Análise em Múltiplos Níveis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960120"/>
            <a:ext cx="2743200" cy="36576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18872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60"/>
              </a:spcAft>
              <a:defRPr sz="1600" b="1">
                <a:solidFill>
                  <a:srgbClr val="002B5C"/>
                </a:solidFill>
                <a:latin typeface="Segoe UI"/>
              </a:defRPr>
            </a:pPr>
            <a:r>
              <a:t>De uma questão até o currículo inteiro:</a:t>
            </a:r>
          </a:p>
          <a:p>
            <a:pPr>
              <a:spcAft>
                <a:spcPts val="960"/>
              </a:spcAft>
              <a:defRPr sz="1600" b="0">
                <a:solidFill>
                  <a:srgbClr val="333333"/>
                </a:solidFill>
                <a:latin typeface="Segoe UI"/>
              </a:defRPr>
            </a:pPr>
          </a:p>
          <a:p>
            <a:pPr>
              <a:spcAft>
                <a:spcPts val="960"/>
              </a:spcAft>
              <a:defRPr sz="1600" b="1">
                <a:solidFill>
                  <a:srgbClr val="0056A0"/>
                </a:solidFill>
                <a:latin typeface="Segoe UI"/>
              </a:defRPr>
            </a:pPr>
            <a:r>
              <a:t>Questão</a:t>
            </a:r>
          </a:p>
          <a:p>
            <a:pPr>
              <a:spcAft>
                <a:spcPts val="960"/>
              </a:spcAft>
              <a:defRPr sz="1600" b="0">
                <a:solidFill>
                  <a:srgbClr val="333333"/>
                </a:solidFill>
                <a:latin typeface="Segoe UI"/>
              </a:defRPr>
            </a:pPr>
            <a:r>
              <a:t>   Raciocínio do aluno naquela questão específica</a:t>
            </a:r>
          </a:p>
          <a:p>
            <a:pPr>
              <a:spcAft>
                <a:spcPts val="960"/>
              </a:spcAft>
              <a:defRPr sz="1600" b="1">
                <a:solidFill>
                  <a:srgbClr val="0056A0"/>
                </a:solidFill>
                <a:latin typeface="Segoe UI"/>
              </a:defRPr>
            </a:pPr>
            <a:r>
              <a:t>Aluno</a:t>
            </a:r>
          </a:p>
          <a:p>
            <a:pPr>
              <a:spcAft>
                <a:spcPts val="960"/>
              </a:spcAft>
              <a:defRPr sz="1600" b="0">
                <a:solidFill>
                  <a:srgbClr val="333333"/>
                </a:solidFill>
                <a:latin typeface="Segoe UI"/>
              </a:defRPr>
            </a:pPr>
            <a:r>
              <a:t>   Perfil completo: notas, habilidades, evolução</a:t>
            </a:r>
          </a:p>
          <a:p>
            <a:pPr>
              <a:spcAft>
                <a:spcPts val="960"/>
              </a:spcAft>
              <a:defRPr sz="1600" b="1">
                <a:solidFill>
                  <a:srgbClr val="0056A0"/>
                </a:solidFill>
                <a:latin typeface="Segoe UI"/>
              </a:defRPr>
            </a:pPr>
            <a:r>
              <a:t>Atividade</a:t>
            </a:r>
          </a:p>
          <a:p>
            <a:pPr>
              <a:spcAft>
                <a:spcPts val="960"/>
              </a:spcAft>
              <a:defRPr sz="1600" b="0">
                <a:solidFill>
                  <a:srgbClr val="333333"/>
                </a:solidFill>
                <a:latin typeface="Segoe UI"/>
              </a:defRPr>
            </a:pPr>
            <a:r>
              <a:t>   Como a turma se saiu nesta prova</a:t>
            </a:r>
          </a:p>
          <a:p>
            <a:pPr>
              <a:spcAft>
                <a:spcPts val="960"/>
              </a:spcAft>
              <a:defRPr sz="1600" b="1">
                <a:solidFill>
                  <a:srgbClr val="0056A0"/>
                </a:solidFill>
                <a:latin typeface="Segoe UI"/>
              </a:defRPr>
            </a:pPr>
            <a:r>
              <a:t>Turma</a:t>
            </a:r>
          </a:p>
          <a:p>
            <a:pPr>
              <a:spcAft>
                <a:spcPts val="960"/>
              </a:spcAft>
              <a:defRPr sz="1600" b="0">
                <a:solidFill>
                  <a:srgbClr val="333333"/>
                </a:solidFill>
                <a:latin typeface="Segoe UI"/>
              </a:defRPr>
            </a:pPr>
            <a:r>
              <a:t>   Evolução ao longo do tempo, erros persistentes</a:t>
            </a:r>
          </a:p>
          <a:p>
            <a:pPr>
              <a:spcAft>
                <a:spcPts val="960"/>
              </a:spcAft>
              <a:defRPr sz="1600" b="1">
                <a:solidFill>
                  <a:srgbClr val="0056A0"/>
                </a:solidFill>
                <a:latin typeface="Segoe UI"/>
              </a:defRPr>
            </a:pPr>
            <a:r>
              <a:t>Matéria</a:t>
            </a:r>
          </a:p>
          <a:p>
            <a:pPr>
              <a:spcAft>
                <a:spcPts val="960"/>
              </a:spcAft>
              <a:defRPr sz="1600" b="0">
                <a:solidFill>
                  <a:srgbClr val="333333"/>
                </a:solidFill>
                <a:latin typeface="Segoe UI"/>
              </a:defRPr>
            </a:pPr>
            <a:r>
              <a:t>   Comparação entre turmas, eficácia do currículo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5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002B5C"/>
                </a:solidFill>
                <a:latin typeface="Segoe UI"/>
              </a:defRPr>
            </a:pPr>
            <a:r>
              <a:t>Flexibilidade Multi-Provedor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960120"/>
            <a:ext cx="2743200" cy="36576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18872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60"/>
              </a:spcAft>
              <a:defRPr sz="1600" b="1">
                <a:solidFill>
                  <a:srgbClr val="002B5C"/>
                </a:solidFill>
                <a:latin typeface="Segoe UI"/>
              </a:defRPr>
            </a:pPr>
            <a:r>
              <a:t>Sem dependência de um único provedor de IA.</a:t>
            </a:r>
          </a:p>
          <a:p>
            <a:pPr>
              <a:spcAft>
                <a:spcPts val="960"/>
              </a:spcAft>
              <a:defRPr sz="1600" b="0">
                <a:solidFill>
                  <a:srgbClr val="333333"/>
                </a:solidFill>
                <a:latin typeface="Segoe UI"/>
              </a:defRPr>
            </a:pPr>
          </a:p>
          <a:p>
            <a:pPr>
              <a:spcAft>
                <a:spcPts val="960"/>
              </a:spcAft>
              <a:defRPr sz="1600" b="0">
                <a:solidFill>
                  <a:srgbClr val="333333"/>
                </a:solidFill>
                <a:latin typeface="Segoe UI"/>
              </a:defRPr>
            </a:pPr>
            <a:r>
              <a:t>•  OpenAI (GPT-4.1, o3)</a:t>
            </a:r>
          </a:p>
          <a:p>
            <a:pPr>
              <a:spcAft>
                <a:spcPts val="960"/>
              </a:spcAft>
              <a:defRPr sz="1600" b="0">
                <a:solidFill>
                  <a:srgbClr val="333333"/>
                </a:solidFill>
                <a:latin typeface="Segoe UI"/>
              </a:defRPr>
            </a:pPr>
            <a:r>
              <a:t>•  Anthropic (Claude Opus, Sonnet, Haiku)</a:t>
            </a:r>
          </a:p>
          <a:p>
            <a:pPr>
              <a:spcAft>
                <a:spcPts val="960"/>
              </a:spcAft>
              <a:defRPr sz="1600" b="0">
                <a:solidFill>
                  <a:srgbClr val="333333"/>
                </a:solidFill>
                <a:latin typeface="Segoe UI"/>
              </a:defRPr>
            </a:pPr>
            <a:r>
              <a:t>•  Google (Gemini Flash / Pro)</a:t>
            </a:r>
          </a:p>
          <a:p>
            <a:pPr>
              <a:spcAft>
                <a:spcPts val="960"/>
              </a:spcAft>
              <a:defRPr sz="1600" b="0">
                <a:solidFill>
                  <a:srgbClr val="333333"/>
                </a:solidFill>
                <a:latin typeface="Segoe UI"/>
              </a:defRPr>
            </a:pPr>
            <a:r>
              <a:t>•  Ollama (modelos locais)</a:t>
            </a:r>
          </a:p>
          <a:p>
            <a:pPr>
              <a:spcAft>
                <a:spcPts val="960"/>
              </a:spcAft>
              <a:defRPr sz="1600" b="0">
                <a:solidFill>
                  <a:srgbClr val="333333"/>
                </a:solidFill>
                <a:latin typeface="Segoe UI"/>
              </a:defRPr>
            </a:pPr>
          </a:p>
          <a:p>
            <a:pPr>
              <a:spcAft>
                <a:spcPts val="960"/>
              </a:spcAft>
              <a:defRPr sz="1600" b="0">
                <a:solidFill>
                  <a:srgbClr val="666666"/>
                </a:solidFill>
                <a:latin typeface="Segoe UI"/>
              </a:defRPr>
            </a:pPr>
            <a:r>
              <a:t>Framework para experimentação com diferentes IAs</a:t>
            </a:r>
          </a:p>
          <a:p>
            <a:pPr>
              <a:spcAft>
                <a:spcPts val="960"/>
              </a:spcAft>
              <a:defRPr sz="1600" b="0">
                <a:solidFill>
                  <a:srgbClr val="666666"/>
                </a:solidFill>
                <a:latin typeface="Segoe UI"/>
              </a:defRPr>
            </a:pPr>
            <a:r>
              <a:t>na correção automatizada.</a:t>
            </a:r>
          </a:p>
          <a:p>
            <a:pPr>
              <a:spcAft>
                <a:spcPts val="960"/>
              </a:spcAft>
              <a:defRPr sz="1600" b="0">
                <a:solidFill>
                  <a:srgbClr val="333333"/>
                </a:solidFill>
                <a:latin typeface="Segoe UI"/>
              </a:defRPr>
            </a:pPr>
          </a:p>
          <a:p>
            <a:pPr>
              <a:spcAft>
                <a:spcPts val="960"/>
              </a:spcAft>
              <a:defRPr sz="1600" b="0">
                <a:solidFill>
                  <a:srgbClr val="333333"/>
                </a:solidFill>
                <a:latin typeface="Segoe UI"/>
              </a:defRPr>
            </a:pPr>
            <a:r>
              <a:t>O professor não escolhe o modelo — o sistema escolhe o melhor.</a:t>
            </a:r>
          </a:p>
          <a:p>
            <a:pPr>
              <a:spcAft>
                <a:spcPts val="960"/>
              </a:spcAft>
              <a:defRPr sz="1600" b="0">
                <a:solidFill>
                  <a:srgbClr val="333333"/>
                </a:solidFill>
                <a:latin typeface="Segoe UI"/>
              </a:defRPr>
            </a:pPr>
            <a:r>
              <a:t>Pesquisadores podem comparar resultados entre provedores.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2B5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926080"/>
            <a:ext cx="12191695" cy="54864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  <a:latin typeface="Segoe UI"/>
              </a:defRPr>
            </a:pPr>
            <a:r>
              <a:t>Pipeline de Correção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2004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4A90D9"/>
                </a:solidFill>
                <a:latin typeface="Segoe UI"/>
              </a:defRPr>
            </a:pPr>
            <a:r>
              <a:t>Como a IA processa uma prova em 9 etapas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5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002B5C"/>
                </a:solidFill>
                <a:latin typeface="Segoe UI"/>
              </a:defRPr>
            </a:pPr>
            <a:r>
              <a:t>Pipeline de Correção Automática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960120"/>
            <a:ext cx="2743200" cy="36576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04_pipeline_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88720"/>
            <a:ext cx="11247120" cy="702945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" y="530352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666666"/>
                </a:solidFill>
                <a:latin typeface="Segoe UI"/>
              </a:defRPr>
            </a:pPr>
            <a:r>
              <a:t>A IA processa os documentos em 6 etapas sequenciais.</a:t>
            </a:r>
            <a:br/>
            <a:r>
              <a:t>Cada etapa gera um documento que o professor pode visualizar, editar e revisar.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5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002B5C"/>
                </a:solidFill>
                <a:latin typeface="Segoe UI"/>
              </a:defRPr>
            </a:pPr>
            <a:r>
              <a:t>Etapas 1-3: Extração de Documentos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960120"/>
            <a:ext cx="2743200" cy="36576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18872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60"/>
              </a:spcAft>
              <a:defRPr sz="1600" b="0">
                <a:solidFill>
                  <a:srgbClr val="666666"/>
                </a:solidFill>
                <a:latin typeface="Segoe UI"/>
              </a:defRPr>
            </a:pPr>
            <a:r>
              <a:t>Antes de corrigir, a IA precisa entender os documentos.</a:t>
            </a:r>
          </a:p>
          <a:p>
            <a:pPr>
              <a:spcAft>
                <a:spcPts val="960"/>
              </a:spcAft>
              <a:defRPr sz="1600" b="0">
                <a:solidFill>
                  <a:srgbClr val="333333"/>
                </a:solidFill>
                <a:latin typeface="Segoe UI"/>
              </a:defRPr>
            </a:pPr>
          </a:p>
          <a:p>
            <a:pPr>
              <a:spcAft>
                <a:spcPts val="960"/>
              </a:spcAft>
              <a:defRPr sz="1600" b="1">
                <a:solidFill>
                  <a:srgbClr val="0056A0"/>
                </a:solidFill>
                <a:latin typeface="Segoe UI"/>
              </a:defRPr>
            </a:pPr>
            <a:r>
              <a:t>🔎  Etapa 1 — Extração de Questões</a:t>
            </a:r>
          </a:p>
          <a:p>
            <a:pPr>
              <a:spcAft>
                <a:spcPts val="960"/>
              </a:spcAft>
              <a:defRPr sz="1600" b="0">
                <a:solidFill>
                  <a:srgbClr val="333333"/>
                </a:solidFill>
                <a:latin typeface="Segoe UI"/>
              </a:defRPr>
            </a:pPr>
            <a:r>
              <a:t>   Lê o enunciado, identifica cada questão e classifica por</a:t>
            </a:r>
          </a:p>
          <a:p>
            <a:pPr>
              <a:spcAft>
                <a:spcPts val="960"/>
              </a:spcAft>
              <a:defRPr sz="1600" b="0">
                <a:solidFill>
                  <a:srgbClr val="333333"/>
                </a:solidFill>
                <a:latin typeface="Segoe UI"/>
              </a:defRPr>
            </a:pPr>
            <a:r>
              <a:t>   tipo de raciocínio: recuperação, compreensão, aplicação, análise, síntese.</a:t>
            </a:r>
          </a:p>
          <a:p>
            <a:pPr>
              <a:spcAft>
                <a:spcPts val="960"/>
              </a:spcAft>
              <a:defRPr sz="1600" b="0">
                <a:solidFill>
                  <a:srgbClr val="333333"/>
                </a:solidFill>
                <a:latin typeface="Segoe UI"/>
              </a:defRPr>
            </a:pPr>
          </a:p>
          <a:p>
            <a:pPr>
              <a:spcAft>
                <a:spcPts val="960"/>
              </a:spcAft>
              <a:defRPr sz="1600" b="1">
                <a:solidFill>
                  <a:srgbClr val="0056A0"/>
                </a:solidFill>
                <a:latin typeface="Segoe UI"/>
              </a:defRPr>
            </a:pPr>
            <a:r>
              <a:t>🧩  Etapa 2 — Extração de Gabarito</a:t>
            </a:r>
          </a:p>
          <a:p>
            <a:pPr>
              <a:spcAft>
                <a:spcPts val="960"/>
              </a:spcAft>
              <a:defRPr sz="1600" b="0">
                <a:solidFill>
                  <a:srgbClr val="333333"/>
                </a:solidFill>
                <a:latin typeface="Segoe UI"/>
              </a:defRPr>
            </a:pPr>
            <a:r>
              <a:t>   Estrutura as respostas corretas, associa critérios de pontuação,</a:t>
            </a:r>
          </a:p>
          <a:p>
            <a:pPr>
              <a:spcAft>
                <a:spcPts val="960"/>
              </a:spcAft>
              <a:defRPr sz="1600" b="0">
                <a:solidFill>
                  <a:srgbClr val="333333"/>
                </a:solidFill>
                <a:latin typeface="Segoe UI"/>
              </a:defRPr>
            </a:pPr>
            <a:r>
              <a:t>   identifica respostas alternativas válidas.</a:t>
            </a:r>
          </a:p>
          <a:p>
            <a:pPr>
              <a:spcAft>
                <a:spcPts val="960"/>
              </a:spcAft>
              <a:defRPr sz="1600" b="0">
                <a:solidFill>
                  <a:srgbClr val="333333"/>
                </a:solidFill>
                <a:latin typeface="Segoe UI"/>
              </a:defRPr>
            </a:pPr>
          </a:p>
          <a:p>
            <a:pPr>
              <a:spcAft>
                <a:spcPts val="960"/>
              </a:spcAft>
              <a:defRPr sz="1600" b="1">
                <a:solidFill>
                  <a:srgbClr val="0056A0"/>
                </a:solidFill>
                <a:latin typeface="Segoe UI"/>
              </a:defRPr>
            </a:pPr>
            <a:r>
              <a:t>📝  Etapa 3 — Extração de Respostas</a:t>
            </a:r>
          </a:p>
          <a:p>
            <a:pPr>
              <a:spcAft>
                <a:spcPts val="960"/>
              </a:spcAft>
              <a:defRPr sz="1600" b="0">
                <a:solidFill>
                  <a:srgbClr val="333333"/>
                </a:solidFill>
                <a:latin typeface="Segoe UI"/>
              </a:defRPr>
            </a:pPr>
            <a:r>
              <a:t>   Lê o que o aluno escreveu. Lida com caligrafia,</a:t>
            </a:r>
          </a:p>
          <a:p>
            <a:pPr>
              <a:spcAft>
                <a:spcPts val="960"/>
              </a:spcAft>
              <a:defRPr sz="1600" b="0">
                <a:solidFill>
                  <a:srgbClr val="333333"/>
                </a:solidFill>
                <a:latin typeface="Segoe UI"/>
              </a:defRPr>
            </a:pPr>
            <a:r>
              <a:t>   formatos variados e respostas parciais.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5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002B5C"/>
                </a:solidFill>
                <a:latin typeface="Segoe UI"/>
              </a:defRPr>
            </a:pPr>
            <a:r>
              <a:t>Etapa 4: Correção Narrativa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960120"/>
            <a:ext cx="2743200" cy="36576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18872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60"/>
              </a:spcAft>
              <a:defRPr sz="1600" b="1">
                <a:solidFill>
                  <a:srgbClr val="002B5C"/>
                </a:solidFill>
                <a:latin typeface="Segoe UI"/>
              </a:defRPr>
            </a:pPr>
            <a:r>
              <a:t>Não é um simples "certo ou errado".</a:t>
            </a:r>
          </a:p>
          <a:p>
            <a:pPr>
              <a:spcAft>
                <a:spcPts val="960"/>
              </a:spcAft>
              <a:defRPr sz="1600" b="0">
                <a:solidFill>
                  <a:srgbClr val="666666"/>
                </a:solidFill>
                <a:latin typeface="Segoe UI"/>
              </a:defRPr>
            </a:pPr>
            <a:r>
              <a:t>Para cada questão, a correção inclui:</a:t>
            </a:r>
          </a:p>
          <a:p>
            <a:pPr>
              <a:spcAft>
                <a:spcPts val="960"/>
              </a:spcAft>
              <a:defRPr sz="1600" b="0">
                <a:solidFill>
                  <a:srgbClr val="333333"/>
                </a:solidFill>
                <a:latin typeface="Segoe UI"/>
              </a:defRPr>
            </a:pPr>
          </a:p>
          <a:p>
            <a:pPr>
              <a:spcAft>
                <a:spcPts val="960"/>
              </a:spcAft>
              <a:defRPr sz="1600" b="0">
                <a:solidFill>
                  <a:srgbClr val="333333"/>
                </a:solidFill>
                <a:latin typeface="Segoe UI"/>
              </a:defRPr>
            </a:pPr>
            <a:r>
              <a:t>   ✅  Nota com justificativa</a:t>
            </a:r>
          </a:p>
          <a:p>
            <a:pPr>
              <a:spcAft>
                <a:spcPts val="960"/>
              </a:spcAft>
              <a:defRPr sz="1600" b="0">
                <a:solidFill>
                  <a:srgbClr val="333333"/>
                </a:solidFill>
                <a:latin typeface="Segoe UI"/>
              </a:defRPr>
            </a:pPr>
            <a:r>
              <a:t>   ✅  Análise do raciocínio — o que o aluno estava pensando</a:t>
            </a:r>
          </a:p>
          <a:p>
            <a:pPr>
              <a:spcAft>
                <a:spcPts val="960"/>
              </a:spcAft>
              <a:defRPr sz="1600" b="0">
                <a:solidFill>
                  <a:srgbClr val="333333"/>
                </a:solidFill>
                <a:latin typeface="Segoe UI"/>
              </a:defRPr>
            </a:pPr>
            <a:r>
              <a:t>   ✅  Tipo de erro — conceitual, de execução, de interpretação</a:t>
            </a:r>
          </a:p>
          <a:p>
            <a:pPr>
              <a:spcAft>
                <a:spcPts val="960"/>
              </a:spcAft>
              <a:defRPr sz="1600" b="0">
                <a:solidFill>
                  <a:srgbClr val="333333"/>
                </a:solidFill>
                <a:latin typeface="Segoe UI"/>
              </a:defRPr>
            </a:pPr>
            <a:r>
              <a:t>   ✅  Potencial demonstrado — o que o aluno quase acertou</a:t>
            </a:r>
          </a:p>
          <a:p>
            <a:pPr>
              <a:spcAft>
                <a:spcPts val="960"/>
              </a:spcAft>
              <a:defRPr sz="1600" b="0">
                <a:solidFill>
                  <a:srgbClr val="333333"/>
                </a:solidFill>
                <a:latin typeface="Segoe UI"/>
              </a:defRPr>
            </a:pPr>
          </a:p>
          <a:p>
            <a:pPr>
              <a:spcAft>
                <a:spcPts val="960"/>
              </a:spcAft>
              <a:defRPr sz="1600" b="1">
                <a:solidFill>
                  <a:srgbClr val="0056A0"/>
                </a:solidFill>
                <a:latin typeface="Segoe UI"/>
              </a:defRPr>
            </a:pPr>
            <a:r>
              <a:t>Exemplo real (Cálculo 1, EPGE/FGV):</a:t>
            </a:r>
          </a:p>
          <a:p>
            <a:pPr>
              <a:spcAft>
                <a:spcPts val="960"/>
              </a:spcAft>
              <a:defRPr sz="1600" b="0">
                <a:solidFill>
                  <a:srgbClr val="333333"/>
                </a:solidFill>
                <a:latin typeface="Segoe UI"/>
              </a:defRPr>
            </a:pPr>
          </a:p>
          <a:p>
            <a:pPr>
              <a:spcAft>
                <a:spcPts val="960"/>
              </a:spcAft>
              <a:defRPr sz="1600" b="0">
                <a:solidFill>
                  <a:srgbClr val="333333"/>
                </a:solidFill>
                <a:latin typeface="Segoe UI"/>
              </a:defRPr>
            </a:pPr>
            <a:r>
              <a:t>Q1 (0.75/1.5): "Conclusão correta de descontinuidade, mas justificativa</a:t>
            </a:r>
          </a:p>
          <a:p>
            <a:pPr>
              <a:spcAft>
                <a:spcPts val="960"/>
              </a:spcAft>
              <a:defRPr sz="1600" b="0">
                <a:solidFill>
                  <a:srgbClr val="333333"/>
                </a:solidFill>
                <a:latin typeface="Segoe UI"/>
              </a:defRPr>
            </a:pPr>
            <a:r>
              <a:t>mistura conceitos. Regra da cadeia com erro de consistência."</a:t>
            </a:r>
          </a:p>
          <a:p>
            <a:pPr>
              <a:spcAft>
                <a:spcPts val="960"/>
              </a:spcAft>
              <a:defRPr sz="1600" b="0">
                <a:solidFill>
                  <a:srgbClr val="333333"/>
                </a:solidFill>
                <a:latin typeface="Segoe UI"/>
              </a:defRPr>
            </a:pPr>
          </a:p>
          <a:p>
            <a:pPr>
              <a:spcAft>
                <a:spcPts val="960"/>
              </a:spcAft>
              <a:defRPr sz="1600" b="0">
                <a:solidFill>
                  <a:srgbClr val="333333"/>
                </a:solidFill>
                <a:latin typeface="Segoe UI"/>
              </a:defRPr>
            </a:pPr>
            <a:r>
              <a:t>Q5 (0.0/1.0): "Resposta ilegível — sem conteúdo para avaliação."</a:t>
            </a:r>
          </a:p>
          <a:p>
            <a:pPr>
              <a:spcAft>
                <a:spcPts val="960"/>
              </a:spcAft>
              <a:defRPr sz="1600" b="0">
                <a:solidFill>
                  <a:srgbClr val="1B8A4A"/>
                </a:solidFill>
                <a:latin typeface="Segoe UI"/>
              </a:defRPr>
            </a:pPr>
            <a:r>
              <a:t>↑ A IA identifica ilegibilidade e não inventa uma nota.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5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002B5C"/>
                </a:solidFill>
                <a:latin typeface="Segoe UI"/>
              </a:defRPr>
            </a:pPr>
            <a:r>
              <a:t>Etapas 5-6: Análise e Relatório Final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960120"/>
            <a:ext cx="2743200" cy="36576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18872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60"/>
              </a:spcAft>
              <a:defRPr sz="1600" b="1">
                <a:solidFill>
                  <a:srgbClr val="0056A0"/>
                </a:solidFill>
                <a:latin typeface="Segoe UI"/>
              </a:defRPr>
            </a:pPr>
            <a:r>
              <a:t>📊  Etapa 5 — Análise de Habilidades</a:t>
            </a:r>
          </a:p>
          <a:p>
            <a:pPr>
              <a:spcAft>
                <a:spcPts val="960"/>
              </a:spcAft>
              <a:defRPr sz="1600" b="0">
                <a:solidFill>
                  <a:srgbClr val="333333"/>
                </a:solidFill>
                <a:latin typeface="Segoe UI"/>
              </a:defRPr>
            </a:pPr>
            <a:r>
              <a:t>   Perfil de habilidades demonstradas vs. esperadas</a:t>
            </a:r>
          </a:p>
          <a:p>
            <a:pPr>
              <a:spcAft>
                <a:spcPts val="960"/>
              </a:spcAft>
              <a:defRPr sz="1600" b="0">
                <a:solidFill>
                  <a:srgbClr val="333333"/>
                </a:solidFill>
                <a:latin typeface="Segoe UI"/>
              </a:defRPr>
            </a:pPr>
            <a:r>
              <a:t>   Consistência de erros entre questões</a:t>
            </a:r>
          </a:p>
          <a:p>
            <a:pPr>
              <a:spcAft>
                <a:spcPts val="960"/>
              </a:spcAft>
              <a:defRPr sz="1600" b="0">
                <a:solidFill>
                  <a:srgbClr val="333333"/>
                </a:solidFill>
                <a:latin typeface="Segoe UI"/>
              </a:defRPr>
            </a:pPr>
            <a:r>
              <a:t>   Síntese pedagógica: pontos fortes e áreas de melhoria</a:t>
            </a:r>
          </a:p>
          <a:p>
            <a:pPr>
              <a:spcAft>
                <a:spcPts val="960"/>
              </a:spcAft>
              <a:defRPr sz="1600" b="0">
                <a:solidFill>
                  <a:srgbClr val="333333"/>
                </a:solidFill>
                <a:latin typeface="Segoe UI"/>
              </a:defRPr>
            </a:pPr>
          </a:p>
          <a:p>
            <a:pPr>
              <a:spcAft>
                <a:spcPts val="960"/>
              </a:spcAft>
              <a:defRPr sz="1600" b="1">
                <a:solidFill>
                  <a:srgbClr val="0056A0"/>
                </a:solidFill>
                <a:latin typeface="Segoe UI"/>
              </a:defRPr>
            </a:pPr>
            <a:r>
              <a:t>📄  Etapa 6 — Relatório Final</a:t>
            </a:r>
          </a:p>
          <a:p>
            <a:pPr>
              <a:spcAft>
                <a:spcPts val="960"/>
              </a:spcAft>
              <a:defRPr sz="1600" b="0">
                <a:solidFill>
                  <a:srgbClr val="333333"/>
                </a:solidFill>
                <a:latin typeface="Segoe UI"/>
              </a:defRPr>
            </a:pPr>
            <a:r>
              <a:t>   Narrativa holística que combina nota, habilidades e análise:</a:t>
            </a:r>
          </a:p>
          <a:p>
            <a:pPr>
              <a:spcAft>
                <a:spcPts val="960"/>
              </a:spcAft>
              <a:defRPr sz="1600" b="0">
                <a:solidFill>
                  <a:srgbClr val="333333"/>
                </a:solidFill>
                <a:latin typeface="Segoe UI"/>
              </a:defRPr>
            </a:pPr>
            <a:r>
              <a:t>      1.  Visão geral do desempenho</a:t>
            </a:r>
          </a:p>
          <a:p>
            <a:pPr>
              <a:spcAft>
                <a:spcPts val="960"/>
              </a:spcAft>
              <a:defRPr sz="1600" b="0">
                <a:solidFill>
                  <a:srgbClr val="333333"/>
                </a:solidFill>
                <a:latin typeface="Segoe UI"/>
              </a:defRPr>
            </a:pPr>
            <a:r>
              <a:t>      2.  Análise detalhada por questão</a:t>
            </a:r>
          </a:p>
          <a:p>
            <a:pPr>
              <a:spcAft>
                <a:spcPts val="960"/>
              </a:spcAft>
              <a:defRPr sz="1600" b="0">
                <a:solidFill>
                  <a:srgbClr val="333333"/>
                </a:solidFill>
                <a:latin typeface="Segoe UI"/>
              </a:defRPr>
            </a:pPr>
            <a:r>
              <a:t>      3.  Pontos fortes e áreas de melhoria</a:t>
            </a:r>
          </a:p>
          <a:p>
            <a:pPr>
              <a:spcAft>
                <a:spcPts val="960"/>
              </a:spcAft>
              <a:defRPr sz="1600" b="0">
                <a:solidFill>
                  <a:srgbClr val="333333"/>
                </a:solidFill>
                <a:latin typeface="Segoe UI"/>
              </a:defRPr>
            </a:pPr>
            <a:r>
              <a:t>      4.  Recomendações específicas para o aluno</a:t>
            </a:r>
          </a:p>
          <a:p>
            <a:pPr>
              <a:spcAft>
                <a:spcPts val="960"/>
              </a:spcAft>
              <a:defRPr sz="1600" b="0">
                <a:solidFill>
                  <a:srgbClr val="333333"/>
                </a:solidFill>
                <a:latin typeface="Segoe UI"/>
              </a:defRPr>
            </a:pPr>
          </a:p>
          <a:p>
            <a:pPr>
              <a:spcAft>
                <a:spcPts val="960"/>
              </a:spcAft>
              <a:defRPr sz="1600" b="1">
                <a:solidFill>
                  <a:srgbClr val="0056A0"/>
                </a:solidFill>
                <a:latin typeface="Segoe UI"/>
              </a:defRPr>
            </a:pPr>
            <a:r>
              <a:t>"Um relatório que posso mostrar ao aluno e aos pais."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5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002B5C"/>
                </a:solidFill>
                <a:latin typeface="Segoe UI"/>
              </a:defRPr>
            </a:pPr>
            <a:r>
              <a:t>Etapas 7-9: Relatórios de Desempenho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960120"/>
            <a:ext cx="2743200" cy="36576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18872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60"/>
              </a:spcAft>
              <a:defRPr sz="1600" b="1">
                <a:solidFill>
                  <a:srgbClr val="002B5C"/>
                </a:solidFill>
                <a:latin typeface="Segoe UI"/>
              </a:defRPr>
            </a:pPr>
            <a:r>
              <a:t>De uma prova para o currículo inteiro:</a:t>
            </a:r>
          </a:p>
          <a:p>
            <a:pPr>
              <a:spcAft>
                <a:spcPts val="960"/>
              </a:spcAft>
              <a:defRPr sz="1600" b="0">
                <a:solidFill>
                  <a:srgbClr val="333333"/>
                </a:solidFill>
                <a:latin typeface="Segoe UI"/>
              </a:defRPr>
            </a:pPr>
          </a:p>
          <a:p>
            <a:pPr>
              <a:spcAft>
                <a:spcPts val="960"/>
              </a:spcAft>
              <a:defRPr sz="1600" b="1">
                <a:solidFill>
                  <a:srgbClr val="0056A0"/>
                </a:solidFill>
                <a:latin typeface="Segoe UI"/>
              </a:defRPr>
            </a:pPr>
            <a:r>
              <a:t>📋  Desempenho por Tarefa (Atividade)</a:t>
            </a:r>
          </a:p>
          <a:p>
            <a:pPr>
              <a:spcAft>
                <a:spcPts val="960"/>
              </a:spcAft>
              <a:defRPr sz="1600" b="0">
                <a:solidFill>
                  <a:srgbClr val="333333"/>
                </a:solidFill>
                <a:latin typeface="Segoe UI"/>
              </a:defRPr>
            </a:pPr>
            <a:r>
              <a:t>   Como a turma se saiu nesta prova específica.</a:t>
            </a:r>
          </a:p>
          <a:p>
            <a:pPr>
              <a:spcAft>
                <a:spcPts val="960"/>
              </a:spcAft>
              <a:defRPr sz="1600" b="0">
                <a:solidFill>
                  <a:srgbClr val="333333"/>
                </a:solidFill>
                <a:latin typeface="Segoe UI"/>
              </a:defRPr>
            </a:pPr>
            <a:r>
              <a:t>   Padrões de acerto/erro por questão com exemplos de alunos.</a:t>
            </a:r>
          </a:p>
          <a:p>
            <a:pPr>
              <a:spcAft>
                <a:spcPts val="960"/>
              </a:spcAft>
              <a:defRPr sz="1600" b="0">
                <a:solidFill>
                  <a:srgbClr val="333333"/>
                </a:solidFill>
                <a:latin typeface="Segoe UI"/>
              </a:defRPr>
            </a:pPr>
          </a:p>
          <a:p>
            <a:pPr>
              <a:spcAft>
                <a:spcPts val="960"/>
              </a:spcAft>
              <a:defRPr sz="1600" b="1">
                <a:solidFill>
                  <a:srgbClr val="0056A0"/>
                </a:solidFill>
                <a:latin typeface="Segoe UI"/>
              </a:defRPr>
            </a:pPr>
            <a:r>
              <a:t>👥  Desempenho por Turma</a:t>
            </a:r>
          </a:p>
          <a:p>
            <a:pPr>
              <a:spcAft>
                <a:spcPts val="960"/>
              </a:spcAft>
              <a:defRPr sz="1600" b="0">
                <a:solidFill>
                  <a:srgbClr val="333333"/>
                </a:solidFill>
                <a:latin typeface="Segoe UI"/>
              </a:defRPr>
            </a:pPr>
            <a:r>
              <a:t>   Evolução ao longo do semestre. Erros persistentes.</a:t>
            </a:r>
          </a:p>
          <a:p>
            <a:pPr>
              <a:spcAft>
                <a:spcPts val="960"/>
              </a:spcAft>
              <a:defRPr sz="1600" b="0">
                <a:solidFill>
                  <a:srgbClr val="333333"/>
                </a:solidFill>
                <a:latin typeface="Segoe UI"/>
              </a:defRPr>
            </a:pPr>
            <a:r>
              <a:t>   Perfil coletivo: quem melhorou, quem está ficando para trás.</a:t>
            </a:r>
          </a:p>
          <a:p>
            <a:pPr>
              <a:spcAft>
                <a:spcPts val="960"/>
              </a:spcAft>
              <a:defRPr sz="1600" b="0">
                <a:solidFill>
                  <a:srgbClr val="333333"/>
                </a:solidFill>
                <a:latin typeface="Segoe UI"/>
              </a:defRPr>
            </a:pPr>
          </a:p>
          <a:p>
            <a:pPr>
              <a:spcAft>
                <a:spcPts val="960"/>
              </a:spcAft>
              <a:defRPr sz="1600" b="1">
                <a:solidFill>
                  <a:srgbClr val="0056A0"/>
                </a:solidFill>
                <a:latin typeface="Segoe UI"/>
              </a:defRPr>
            </a:pPr>
            <a:r>
              <a:t>📚  Desempenho por Matéria</a:t>
            </a:r>
          </a:p>
          <a:p>
            <a:pPr>
              <a:spcAft>
                <a:spcPts val="960"/>
              </a:spcAft>
              <a:defRPr sz="1600" b="0">
                <a:solidFill>
                  <a:srgbClr val="333333"/>
                </a:solidFill>
                <a:latin typeface="Segoe UI"/>
              </a:defRPr>
            </a:pPr>
            <a:r>
              <a:t>   Comparação entre turmas. Eficácia do currículo.</a:t>
            </a:r>
          </a:p>
          <a:p>
            <a:pPr>
              <a:spcAft>
                <a:spcPts val="960"/>
              </a:spcAft>
              <a:defRPr sz="1600" b="0">
                <a:solidFill>
                  <a:srgbClr val="333333"/>
                </a:solidFill>
                <a:latin typeface="Segoe UI"/>
              </a:defRPr>
            </a:pPr>
            <a:r>
              <a:t>   Recomendações para ajuste pedagógico.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2B5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926080"/>
            <a:ext cx="12191695" cy="54864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  <a:latin typeface="Segoe UI"/>
              </a:defRPr>
            </a:pPr>
            <a:r>
              <a:t>Relatórios Reais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2004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4A90D9"/>
                </a:solidFill>
                <a:latin typeface="Segoe UI"/>
              </a:defRPr>
            </a:pPr>
            <a:r>
              <a:t>Gerados automaticamente a partir de provas da EPGE/FGV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5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002B5C"/>
                </a:solidFill>
                <a:latin typeface="Segoe UI"/>
              </a:defRPr>
            </a:pPr>
            <a:r>
              <a:t>Estes Não São Mockups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960120"/>
            <a:ext cx="2743200" cy="36576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188720"/>
            <a:ext cx="50292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60"/>
              </a:spcAft>
              <a:defRPr sz="1600" b="1">
                <a:solidFill>
                  <a:srgbClr val="002B5C"/>
                </a:solidFill>
                <a:latin typeface="Segoe UI"/>
              </a:defRPr>
            </a:pPr>
            <a:r>
              <a:t>Tudo que você vai ver foi gerado automaticamente</a:t>
            </a:r>
          </a:p>
          <a:p>
            <a:pPr>
              <a:spcAft>
                <a:spcPts val="960"/>
              </a:spcAft>
              <a:defRPr sz="1600" b="1">
                <a:solidFill>
                  <a:srgbClr val="002B5C"/>
                </a:solidFill>
                <a:latin typeface="Segoe UI"/>
              </a:defRPr>
            </a:pPr>
            <a:r>
              <a:t>pelo NOVO CR a partir de provas reais.</a:t>
            </a:r>
          </a:p>
          <a:p>
            <a:pPr>
              <a:spcAft>
                <a:spcPts val="960"/>
              </a:spcAft>
              <a:defRPr sz="1600" b="0">
                <a:solidFill>
                  <a:srgbClr val="333333"/>
                </a:solidFill>
                <a:latin typeface="Segoe UI"/>
              </a:defRPr>
            </a:pPr>
          </a:p>
          <a:p>
            <a:pPr>
              <a:spcAft>
                <a:spcPts val="960"/>
              </a:spcAft>
              <a:defRPr sz="1600" b="0">
                <a:solidFill>
                  <a:srgbClr val="333333"/>
                </a:solidFill>
                <a:latin typeface="Segoe UI"/>
              </a:defRPr>
            </a:pPr>
            <a:r>
              <a:t>Dados: Cálculo 1, EPGE/FGV, turma 2021.</a:t>
            </a:r>
          </a:p>
          <a:p>
            <a:pPr>
              <a:spcAft>
                <a:spcPts val="960"/>
              </a:spcAft>
              <a:defRPr sz="1600" b="0">
                <a:solidFill>
                  <a:srgbClr val="333333"/>
                </a:solidFill>
                <a:latin typeface="Segoe UI"/>
              </a:defRPr>
            </a:pPr>
            <a:r>
              <a:t>Baixados diretamente do sistema em produção.</a:t>
            </a:r>
          </a:p>
          <a:p>
            <a:pPr>
              <a:spcAft>
                <a:spcPts val="960"/>
              </a:spcAft>
              <a:defRPr sz="1600" b="0">
                <a:solidFill>
                  <a:srgbClr val="333333"/>
                </a:solidFill>
                <a:latin typeface="Segoe UI"/>
              </a:defRPr>
            </a:pPr>
          </a:p>
          <a:p>
            <a:pPr>
              <a:spcAft>
                <a:spcPts val="960"/>
              </a:spcAft>
              <a:defRPr sz="1600" b="1">
                <a:solidFill>
                  <a:srgbClr val="0056A0"/>
                </a:solidFill>
                <a:latin typeface="Segoe UI"/>
              </a:defRPr>
            </a:pPr>
            <a:r>
              <a:t>Relatórios disponíveis:</a:t>
            </a:r>
          </a:p>
          <a:p>
            <a:pPr>
              <a:spcAft>
                <a:spcPts val="960"/>
              </a:spcAft>
              <a:defRPr sz="1600" b="0">
                <a:solidFill>
                  <a:srgbClr val="333333"/>
                </a:solidFill>
                <a:latin typeface="Segoe UI"/>
              </a:defRPr>
            </a:pPr>
            <a:r>
              <a:t>   •  Correção individual (por questão)</a:t>
            </a:r>
          </a:p>
          <a:p>
            <a:pPr>
              <a:spcAft>
                <a:spcPts val="960"/>
              </a:spcAft>
              <a:defRPr sz="1600" b="0">
                <a:solidFill>
                  <a:srgbClr val="333333"/>
                </a:solidFill>
                <a:latin typeface="Segoe UI"/>
              </a:defRPr>
            </a:pPr>
            <a:r>
              <a:t>   •  Análise de habilidades (perfil cognitivo)</a:t>
            </a:r>
          </a:p>
          <a:p>
            <a:pPr>
              <a:spcAft>
                <a:spcPts val="960"/>
              </a:spcAft>
              <a:defRPr sz="1600" b="0">
                <a:solidFill>
                  <a:srgbClr val="333333"/>
                </a:solidFill>
                <a:latin typeface="Segoe UI"/>
              </a:defRPr>
            </a:pPr>
            <a:r>
              <a:t>   •  Relatório final (narrativa para aluno e pais)</a:t>
            </a:r>
          </a:p>
          <a:p>
            <a:pPr>
              <a:spcAft>
                <a:spcPts val="960"/>
              </a:spcAft>
              <a:defRPr sz="1600" b="0">
                <a:solidFill>
                  <a:srgbClr val="333333"/>
                </a:solidFill>
                <a:latin typeface="Segoe UI"/>
              </a:defRPr>
            </a:pPr>
            <a:r>
              <a:t>   •  Desempenho por tarefa (visão da turma)</a:t>
            </a:r>
          </a:p>
          <a:p>
            <a:pPr>
              <a:spcAft>
                <a:spcPts val="960"/>
              </a:spcAft>
              <a:defRPr sz="1600" b="0">
                <a:solidFill>
                  <a:srgbClr val="333333"/>
                </a:solidFill>
                <a:latin typeface="Segoe UI"/>
              </a:defRPr>
            </a:pPr>
            <a:r>
              <a:t>   •  Desempenho por turma (evolução temporal)</a:t>
            </a:r>
          </a:p>
          <a:p>
            <a:pPr>
              <a:spcAft>
                <a:spcPts val="960"/>
              </a:spcAft>
              <a:defRPr sz="1600" b="0">
                <a:solidFill>
                  <a:srgbClr val="333333"/>
                </a:solidFill>
                <a:latin typeface="Segoe UI"/>
              </a:defRPr>
            </a:pPr>
            <a:r>
              <a:t>   •  Desempenho por matéria (eficácia curricular)</a:t>
            </a:r>
          </a:p>
        </p:txBody>
      </p:sp>
      <p:pic>
        <p:nvPicPr>
          <p:cNvPr id="6" name="Picture 5" descr="05_dashboard_cle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188720"/>
            <a:ext cx="5303520" cy="33147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5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002B5C"/>
                </a:solidFill>
                <a:latin typeface="Segoe UI"/>
              </a:defRPr>
            </a:pPr>
            <a:r>
              <a:t>Correção Individual — O Microscópio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960120"/>
            <a:ext cx="2743200" cy="36576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188720"/>
            <a:ext cx="105156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40"/>
              </a:spcAft>
              <a:defRPr sz="1400" b="1">
                <a:solidFill>
                  <a:srgbClr val="0056A0"/>
                </a:solidFill>
                <a:latin typeface="Segoe UI"/>
              </a:defRPr>
            </a:pPr>
            <a:r>
              <a:t>Dados reais — Cálculo 1, EPGE/FGV:</a:t>
            </a:r>
          </a:p>
          <a:p>
            <a:pPr>
              <a:spcAft>
                <a:spcPts val="840"/>
              </a:spcAft>
              <a:defRPr sz="1400" b="1">
                <a:solidFill>
                  <a:srgbClr val="002B5C"/>
                </a:solidFill>
                <a:latin typeface="Segoe UI"/>
              </a:defRPr>
            </a:pPr>
            <a:r>
              <a:t>Nota final: 6.0/10</a:t>
            </a:r>
          </a:p>
          <a:p>
            <a:pPr>
              <a:spcAft>
                <a:spcPts val="840"/>
              </a:spcAft>
              <a:defRPr sz="1400" b="0">
                <a:solidFill>
                  <a:srgbClr val="333333"/>
                </a:solidFill>
                <a:latin typeface="Segoe UI"/>
              </a:defRPr>
            </a:pPr>
          </a:p>
          <a:p>
            <a:pPr>
              <a:spcAft>
                <a:spcPts val="840"/>
              </a:spcAft>
              <a:defRPr sz="1400" b="0">
                <a:solidFill>
                  <a:srgbClr val="333333"/>
                </a:solidFill>
                <a:latin typeface="Segoe UI"/>
              </a:defRPr>
            </a:pPr>
            <a:r>
              <a:t>  ❌ Q1 (0.75/1.5): Q1a: conclusão correta de descontinuidade de f', mas a justificativa mistura con...</a:t>
            </a:r>
          </a:p>
          <a:p>
            <a:pPr>
              <a:spcAft>
                <a:spcPts val="840"/>
              </a:spcAft>
              <a:defRPr sz="1400" b="0">
                <a:solidFill>
                  <a:srgbClr val="333333"/>
                </a:solidFill>
                <a:latin typeface="Segoe UI"/>
              </a:defRPr>
            </a:pPr>
            <a:r>
              <a:t>  ✅ Q2 (0.75/1.0): Q2a: correto que y = 4x+2x^2 não satisfaz a edp. Q2b: coeficientes incorretos; r...</a:t>
            </a:r>
          </a:p>
          <a:p>
            <a:pPr>
              <a:spcAft>
                <a:spcPts val="840"/>
              </a:spcAft>
              <a:defRPr sz="1400" b="0">
                <a:solidFill>
                  <a:srgbClr val="333333"/>
                </a:solidFill>
                <a:latin typeface="Segoe UI"/>
              </a:defRPr>
            </a:pPr>
            <a:r>
              <a:t>  ✅ Q3 (1.0/1.5): Q3a: gráfico em V com vértice em (0,4), constante 4 para -2≤x≤2. Q3b: f'(-1)=0. ...</a:t>
            </a:r>
          </a:p>
          <a:p>
            <a:pPr>
              <a:spcAft>
                <a:spcPts val="840"/>
              </a:spcAft>
              <a:defRPr sz="1400" b="0">
                <a:solidFill>
                  <a:srgbClr val="333333"/>
                </a:solidFill>
                <a:latin typeface="Segoe UI"/>
              </a:defRPr>
            </a:pPr>
            <a:r>
              <a:t>  ❌ Q4 (0.75/1.0): Q4a: cálculo da derivada da razão está quase completo; falta transcrição final d...</a:t>
            </a:r>
          </a:p>
          <a:p>
            <a:pPr>
              <a:spcAft>
                <a:spcPts val="840"/>
              </a:spcAft>
              <a:defRPr sz="1400" b="0">
                <a:solidFill>
                  <a:srgbClr val="333333"/>
                </a:solidFill>
                <a:latin typeface="Segoe UI"/>
              </a:defRPr>
            </a:pPr>
          </a:p>
          <a:p>
            <a:pPr>
              <a:spcAft>
                <a:spcPts val="840"/>
              </a:spcAft>
              <a:defRPr sz="1400" b="1">
                <a:solidFill>
                  <a:srgbClr val="0056A0"/>
                </a:solidFill>
                <a:latin typeface="Segoe UI"/>
              </a:defRPr>
            </a:pPr>
            <a:r>
              <a:t>Feedback geral:</a:t>
            </a:r>
          </a:p>
          <a:p>
            <a:pPr>
              <a:spcAft>
                <a:spcPts val="840"/>
              </a:spcAft>
              <a:defRPr sz="1400" b="0">
                <a:solidFill>
                  <a:srgbClr val="666666"/>
                </a:solidFill>
                <a:latin typeface="Segoe UI"/>
              </a:defRPr>
            </a:pPr>
            <a:r>
              <a:t>O aluno demonstra domínio considerável de cálculo diferencial com bons resultados, identificando corretamente os pontos-chave. Houve alguns equívocos em justificativas (Q1, Q4) e uma área de incerteza...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66928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u="sng">
                <a:solidFill>
                  <a:srgbClr val="4A90D9"/>
                </a:solidFill>
                <a:latin typeface="Segoe UI"/>
                <a:hlinkClick r:id="rId2"/>
              </a:rPr>
              <a:t>→ Ver relatório completo: 01_correcao_otavio.pdf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5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002B5C"/>
                </a:solidFill>
                <a:latin typeface="Segoe UI"/>
              </a:defRPr>
            </a:pPr>
            <a:r>
              <a:t>Desempenho por Tarefa — A Visão da Turma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960120"/>
            <a:ext cx="2743200" cy="36576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1188720"/>
            <a:ext cx="10972800" cy="2011680"/>
          </a:xfrm>
          <a:prstGeom prst="rect">
            <a:avLst/>
          </a:prstGeom>
          <a:solidFill>
            <a:srgbClr val="F0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188720"/>
            <a:ext cx="54864" cy="2011680"/>
          </a:xfrm>
          <a:prstGeom prst="rect">
            <a:avLst/>
          </a:prstGeom>
          <a:solidFill>
            <a:srgbClr val="005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371600"/>
            <a:ext cx="103327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40"/>
              </a:spcAft>
              <a:defRPr sz="1400" b="1">
                <a:solidFill>
                  <a:srgbClr val="0056A0"/>
                </a:solidFill>
                <a:latin typeface="Segoe UI"/>
              </a:defRPr>
            </a:pPr>
            <a:r>
              <a:t>Trecho real do relatório gerado pelo sistema:</a:t>
            </a:r>
          </a:p>
          <a:p>
            <a:pPr>
              <a:spcAft>
                <a:spcPts val="840"/>
              </a:spcAft>
              <a:defRPr sz="1400" b="0">
                <a:solidFill>
                  <a:srgbClr val="333333"/>
                </a:solidFill>
                <a:latin typeface="Segoe UI"/>
              </a:defRPr>
            </a:pPr>
          </a:p>
          <a:p>
            <a:pPr>
              <a:spcAft>
                <a:spcPts val="840"/>
              </a:spcAft>
              <a:defRPr sz="1400" b="0">
                <a:solidFill>
                  <a:srgbClr val="333333"/>
                </a:solidFill>
                <a:latin typeface="Segoe UI"/>
              </a:defRPr>
            </a:pPr>
            <a:r>
              <a:t>Entretanto, emergem dificuldades coletivas em temas que exigem maior interpretação de enunciados e aplicação de conceitos em contextos mais complexos ou menos rotineiros. A recorrência de recomendações sobre aprofundamento na leitura de problemas e atenção a detalhes sugere que, embora a base conceitual esteja bem estabelecida, há uma lacuna quando se trata de transpor o conhecimento para situaçõe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474720"/>
            <a:ext cx="105156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500" b="1">
                <a:solidFill>
                  <a:srgbClr val="0056A0"/>
                </a:solidFill>
                <a:latin typeface="Segoe UI"/>
              </a:defRPr>
            </a:pPr>
            <a:r>
              <a:t>Implicações pedagógicas geradas pela IA:</a:t>
            </a:r>
          </a:p>
          <a:p>
            <a:pPr>
              <a:spcAft>
                <a:spcPts val="900"/>
              </a:spcAft>
              <a:defRPr sz="1500" b="0">
                <a:solidFill>
                  <a:srgbClr val="333333"/>
                </a:solidFill>
                <a:latin typeface="Segoe UI"/>
              </a:defRPr>
            </a:pPr>
          </a:p>
          <a:p>
            <a:pPr>
              <a:spcAft>
                <a:spcPts val="900"/>
              </a:spcAft>
              <a:defRPr sz="1500" b="0">
                <a:solidFill>
                  <a:srgbClr val="333333"/>
                </a:solidFill>
                <a:latin typeface="Segoe UI"/>
              </a:defRPr>
            </a:pPr>
            <a:r>
              <a:t>  1.  Reservar tempo para leitura e análise detalhada de enunciados</a:t>
            </a:r>
          </a:p>
          <a:p>
            <a:pPr>
              <a:spcAft>
                <a:spcPts val="900"/>
              </a:spcAft>
              <a:defRPr sz="1500" b="0">
                <a:solidFill>
                  <a:srgbClr val="333333"/>
                </a:solidFill>
                <a:latin typeface="Segoe UI"/>
              </a:defRPr>
            </a:pPr>
            <a:r>
              <a:t>  2.  Organizar oficinas de escrita formal de provas matemáticas</a:t>
            </a:r>
          </a:p>
          <a:p>
            <a:pPr>
              <a:spcAft>
                <a:spcPts val="900"/>
              </a:spcAft>
              <a:defRPr sz="1500" b="0">
                <a:solidFill>
                  <a:srgbClr val="333333"/>
                </a:solidFill>
                <a:latin typeface="Segoe UI"/>
              </a:defRPr>
            </a:pPr>
            <a:r>
              <a:t>  3.  Promover correções comentadas e devolutivas rápidas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66928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u="sng">
                <a:solidFill>
                  <a:srgbClr val="4A90D9"/>
                </a:solidFill>
                <a:latin typeface="Segoe UI"/>
                <a:hlinkClick r:id="rId2"/>
              </a:rPr>
              <a:t>→ Ver relatório completo: 04_desempenho_tarefa.pdf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5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002B5C"/>
                </a:solidFill>
                <a:latin typeface="Segoe UI"/>
              </a:defRPr>
            </a:pPr>
            <a:r>
              <a:t>Tudo Isso É Real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960120"/>
            <a:ext cx="2743200" cy="36576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280160"/>
            <a:ext cx="2011680" cy="594360"/>
          </a:xfrm>
          <a:prstGeom prst="rect">
            <a:avLst/>
          </a:prstGeom>
          <a:solidFill>
            <a:srgbClr val="005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389888"/>
            <a:ext cx="2011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Segoe UI"/>
              </a:defRPr>
            </a:pPr>
            <a:r>
              <a:t>Questão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132588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2B5C"/>
                </a:solidFill>
                <a:latin typeface="Segoe UI"/>
              </a:defRPr>
            </a:pPr>
            <a:r>
              <a:t>Correção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1325880"/>
            <a:ext cx="3657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66666"/>
                </a:solidFill>
                <a:latin typeface="Segoe UI"/>
              </a:defRPr>
            </a:pPr>
            <a:r>
              <a:t>Raciocínio, tipo de erro, potencial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0" y="1325880"/>
            <a:ext cx="1828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u="sng">
                <a:solidFill>
                  <a:srgbClr val="4A90D9"/>
                </a:solidFill>
                <a:latin typeface="Segoe UI"/>
                <a:hlinkClick r:id="rId2"/>
              </a:rPr>
              <a:t>📎 Abrir PDF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2057400"/>
            <a:ext cx="2011680" cy="594360"/>
          </a:xfrm>
          <a:prstGeom prst="rect">
            <a:avLst/>
          </a:prstGeom>
          <a:solidFill>
            <a:srgbClr val="005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2167128"/>
            <a:ext cx="2011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Segoe UI"/>
              </a:defRPr>
            </a:pPr>
            <a:r>
              <a:t>Aluno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26080" y="210312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2B5C"/>
                </a:solidFill>
                <a:latin typeface="Segoe UI"/>
              </a:defRPr>
            </a:pPr>
            <a:r>
              <a:t>Análise de Habilidades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0" y="2103120"/>
            <a:ext cx="3657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66666"/>
                </a:solidFill>
                <a:latin typeface="Segoe UI"/>
              </a:defRPr>
            </a:pPr>
            <a:r>
              <a:t>Perfil cognitivo, padrões, recomendações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0" y="2103120"/>
            <a:ext cx="1828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u="sng">
                <a:solidFill>
                  <a:srgbClr val="4A90D9"/>
                </a:solidFill>
                <a:latin typeface="Segoe UI"/>
                <a:hlinkClick r:id="rId3"/>
              </a:rPr>
              <a:t>📎 Abrir PDF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31520" y="2834640"/>
            <a:ext cx="2011680" cy="594360"/>
          </a:xfrm>
          <a:prstGeom prst="rect">
            <a:avLst/>
          </a:prstGeom>
          <a:solidFill>
            <a:srgbClr val="005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2944368"/>
            <a:ext cx="2011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Segoe UI"/>
              </a:defRPr>
            </a:pPr>
            <a:r>
              <a:t>Aluno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26080" y="288036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2B5C"/>
                </a:solidFill>
                <a:latin typeface="Segoe UI"/>
              </a:defRPr>
            </a:pPr>
            <a:r>
              <a:t>Relatório Final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17920" y="2880360"/>
            <a:ext cx="3657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66666"/>
                </a:solidFill>
                <a:latin typeface="Segoe UI"/>
              </a:defRPr>
            </a:pPr>
            <a:r>
              <a:t>Narrativa completa para aluno e pais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0" y="2880360"/>
            <a:ext cx="1828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u="sng">
                <a:solidFill>
                  <a:srgbClr val="4A90D9"/>
                </a:solidFill>
                <a:latin typeface="Segoe UI"/>
                <a:hlinkClick r:id="rId4"/>
              </a:rPr>
              <a:t>📎 Abrir PDF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31520" y="3611880"/>
            <a:ext cx="2011680" cy="594360"/>
          </a:xfrm>
          <a:prstGeom prst="rect">
            <a:avLst/>
          </a:prstGeom>
          <a:solidFill>
            <a:srgbClr val="002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1520" y="3721608"/>
            <a:ext cx="2011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Segoe UI"/>
              </a:defRPr>
            </a:pPr>
            <a:r>
              <a:t>Turma × Atividade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926080" y="365760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2B5C"/>
                </a:solidFill>
                <a:latin typeface="Segoe UI"/>
              </a:defRPr>
            </a:pPr>
            <a:r>
              <a:t>Desempenho Tarefa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17920" y="3657600"/>
            <a:ext cx="3657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66666"/>
                </a:solidFill>
                <a:latin typeface="Segoe UI"/>
              </a:defRPr>
            </a:pPr>
            <a:r>
              <a:t>Padrões coletivos, exemplos específicos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058400" y="3657600"/>
            <a:ext cx="1828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u="sng">
                <a:solidFill>
                  <a:srgbClr val="4A90D9"/>
                </a:solidFill>
                <a:latin typeface="Segoe UI"/>
                <a:hlinkClick r:id="rId5"/>
              </a:rPr>
              <a:t>📎 Abrir PDF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1520" y="4389120"/>
            <a:ext cx="2011680" cy="594360"/>
          </a:xfrm>
          <a:prstGeom prst="rect">
            <a:avLst/>
          </a:prstGeom>
          <a:solidFill>
            <a:srgbClr val="002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31520" y="4498848"/>
            <a:ext cx="2011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Segoe UI"/>
              </a:defRPr>
            </a:pPr>
            <a:r>
              <a:t>Turma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926080" y="443484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2B5C"/>
                </a:solidFill>
                <a:latin typeface="Segoe UI"/>
              </a:defRPr>
            </a:pPr>
            <a:r>
              <a:t>Desempenho Turma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17920" y="4434840"/>
            <a:ext cx="3657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66666"/>
                </a:solidFill>
                <a:latin typeface="Segoe UI"/>
              </a:defRPr>
            </a:pPr>
            <a:r>
              <a:t>Evolução ao longo do tempo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058400" y="4434840"/>
            <a:ext cx="1828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u="sng">
                <a:solidFill>
                  <a:srgbClr val="4A90D9"/>
                </a:solidFill>
                <a:latin typeface="Segoe UI"/>
                <a:hlinkClick r:id="rId6"/>
              </a:rPr>
              <a:t>📎 Abrir PDF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31520" y="5166360"/>
            <a:ext cx="2011680" cy="594360"/>
          </a:xfrm>
          <a:prstGeom prst="rect">
            <a:avLst/>
          </a:prstGeom>
          <a:solidFill>
            <a:srgbClr val="002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31520" y="5276088"/>
            <a:ext cx="2011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Segoe UI"/>
              </a:defRPr>
            </a:pPr>
            <a:r>
              <a:t>Matéria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926080" y="521208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2B5C"/>
                </a:solidFill>
                <a:latin typeface="Segoe UI"/>
              </a:defRPr>
            </a:pPr>
            <a:r>
              <a:t>Desempenho Matéria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17920" y="5212080"/>
            <a:ext cx="3657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66666"/>
                </a:solidFill>
                <a:latin typeface="Segoe UI"/>
              </a:defRPr>
            </a:pPr>
            <a:r>
              <a:t>Eficácia do currículo entre turmas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058400" y="5212080"/>
            <a:ext cx="1828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u="sng">
                <a:solidFill>
                  <a:srgbClr val="4A90D9"/>
                </a:solidFill>
                <a:latin typeface="Segoe UI"/>
                <a:hlinkClick r:id="rId7"/>
              </a:rPr>
              <a:t>📎 Abrir PDF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" y="603504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0056A0"/>
                </a:solidFill>
                <a:latin typeface="Segoe UI"/>
              </a:defRPr>
            </a:pPr>
            <a:r>
              <a:t>Tudo gerado automaticamente. O professor clica um botão e recebe narrativas pedagógicas reais.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2B5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Segoe UI"/>
              </a:defRPr>
            </a:pPr>
            <a:r>
              <a:t>O Sistema em Produção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960120"/>
            <a:ext cx="2743200" cy="36576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05_dashboard_cle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80160"/>
            <a:ext cx="5486400" cy="3429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36576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4A90D9"/>
                </a:solidFill>
                <a:latin typeface="Segoe UI"/>
              </a:defRPr>
            </a:pPr>
            <a:r>
              <a:t>Dashboard</a:t>
            </a:r>
          </a:p>
        </p:txBody>
      </p:sp>
      <p:pic>
        <p:nvPicPr>
          <p:cNvPr id="6" name="Picture 5" descr="07_materia_vie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26480" y="1280160"/>
            <a:ext cx="5486400" cy="3429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126480" y="36576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4A90D9"/>
                </a:solidFill>
                <a:latin typeface="Segoe UI"/>
              </a:defRPr>
            </a:pPr>
            <a:r>
              <a:t>Matéria / Turmas</a:t>
            </a:r>
          </a:p>
        </p:txBody>
      </p:sp>
      <p:pic>
        <p:nvPicPr>
          <p:cNvPr id="8" name="Picture 7" descr="08_turma_vie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3931920"/>
            <a:ext cx="5486400" cy="3429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57200" y="630936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4A90D9"/>
                </a:solidFill>
                <a:latin typeface="Segoe UI"/>
              </a:defRPr>
            </a:pPr>
            <a:r>
              <a:t>Atividades</a:t>
            </a:r>
          </a:p>
        </p:txBody>
      </p:sp>
      <p:pic>
        <p:nvPicPr>
          <p:cNvPr id="10" name="Picture 9" descr="04_pipeline_diagram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26480" y="3931920"/>
            <a:ext cx="5486400" cy="34290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126480" y="630936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4A90D9"/>
                </a:solidFill>
                <a:latin typeface="Segoe UI"/>
              </a:defRPr>
            </a:pPr>
            <a:r>
              <a:t>Pipeline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2B5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37160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000" b="1">
                <a:solidFill>
                  <a:srgbClr val="FFFFFF"/>
                </a:solidFill>
                <a:latin typeface="Segoe UI"/>
              </a:defRPr>
            </a:pPr>
            <a:r>
              <a:t>NOVO CR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5603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0">
                <a:solidFill>
                  <a:srgbClr val="4A90D9"/>
                </a:solidFill>
                <a:latin typeface="Georgia"/>
              </a:defRPr>
            </a:pPr>
            <a:r>
              <a:t>Mais que um Número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0" y="3291840"/>
            <a:ext cx="2103120" cy="36576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28800" y="3657600"/>
            <a:ext cx="82296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Potencializando professores, não substituindo.</a:t>
            </a:r>
          </a:p>
          <a:p>
            <a:pPr>
              <a:spcAft>
                <a:spcPts val="1200"/>
              </a:spcAft>
              <a:defRPr sz="2000" b="1">
                <a:solidFill>
                  <a:srgbClr val="FFFFFF"/>
                </a:solidFill>
                <a:latin typeface="Segoe UI"/>
              </a:defRPr>
            </a:pPr>
            <a:r>
              <a:t>Narrativas pedagógicas, não checklists.</a:t>
            </a:r>
          </a:p>
          <a:p>
            <a:pPr>
              <a:spcAft>
                <a:spcPts val="1200"/>
              </a:spcAft>
              <a:defRPr sz="2000" b="1">
                <a:solidFill>
                  <a:srgbClr val="FFFFFF"/>
                </a:solidFill>
                <a:latin typeface="Segoe UI"/>
              </a:defRPr>
            </a:pPr>
            <a:r>
              <a:t>Transparência total em cada etapa.</a:t>
            </a:r>
          </a:p>
          <a:p>
            <a:pPr>
              <a:spcAft>
                <a:spcPts val="1200"/>
              </a:spcAft>
              <a:defRPr sz="2000" b="0">
                <a:solidFill>
                  <a:srgbClr val="333333"/>
                </a:solidFill>
                <a:latin typeface="Segoe UI"/>
              </a:defRPr>
            </a:pPr>
          </a:p>
          <a:p>
            <a:pPr>
              <a:spcAft>
                <a:spcPts val="1200"/>
              </a:spcAft>
              <a:defRPr sz="2000" b="0">
                <a:solidFill>
                  <a:srgbClr val="4A90D9"/>
                </a:solidFill>
                <a:latin typeface="Segoe UI"/>
              </a:defRPr>
            </a:pPr>
            <a:r>
              <a:t>Sistema em produção com dados reais.</a:t>
            </a:r>
          </a:p>
          <a:p>
            <a:pPr>
              <a:spcAft>
                <a:spcPts val="1200"/>
              </a:spcAft>
              <a:defRPr sz="2000" b="0">
                <a:solidFill>
                  <a:srgbClr val="4A90D9"/>
                </a:solidFill>
                <a:latin typeface="Segoe UI"/>
              </a:defRPr>
            </a:pPr>
            <a:r>
              <a:t>ia-educacao-v2.onrender.com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