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a-educacao-v2.onrender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ttoBoop/novo-cr-presentation/blob/main/reports/01_correcao_otavio.pdf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ttoBoop/novo-cr-presentation/blob/main/reports/04_desempenho_tarefa_matv.pdf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ttoBoop/novo-cr-presentation/blob/main/reports/06_desempenho_materia_matv.pdf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ttoBoop/novo-cr-presentation/blob/main/reports/01_correcao_otavio.pdf" TargetMode="External"/><Relationship Id="rId3" Type="http://schemas.openxmlformats.org/officeDocument/2006/relationships/hyperlink" Target="https://github.com/OttoBoop/novo-cr-presentation/blob/main/reports/02_analise_habilidades_otavio.pdf" TargetMode="External"/><Relationship Id="rId4" Type="http://schemas.openxmlformats.org/officeDocument/2006/relationships/hyperlink" Target="https://github.com/OttoBoop/novo-cr-presentation/blob/main/reports/03_relatorio_final_otavio.pdf" TargetMode="External"/><Relationship Id="rId5" Type="http://schemas.openxmlformats.org/officeDocument/2006/relationships/hyperlink" Target="https://github.com/OttoBoop/novo-cr-presentation/blob/main/reports/04_desempenho_tarefa_matv.pdf" TargetMode="External"/><Relationship Id="rId6" Type="http://schemas.openxmlformats.org/officeDocument/2006/relationships/hyperlink" Target="https://github.com/OttoBoop/novo-cr-presentation/blob/main/reports/05_desempenho_turma_matv.pdf" TargetMode="External"/><Relationship Id="rId7" Type="http://schemas.openxmlformats.org/officeDocument/2006/relationships/hyperlink" Target="https://github.com/OttoBoop/novo-cr-presentation/blob/main/reports/06_desempenho_materia_matv.pdf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Segoe UI"/>
              </a:defRPr>
            </a:pPr>
            <a:r>
              <a:t>NOVO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4A90D9"/>
                </a:solidFill>
                <a:latin typeface="Georgia"/>
              </a:defRPr>
            </a:pPr>
            <a:r>
              <a:t>Mais que um Número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BBCC"/>
                </a:solidFill>
                <a:latin typeface="Segoe UI"/>
              </a:defRPr>
            </a:pPr>
            <a:r>
              <a:t>Sistema de Correção Automatizada com IA</a:t>
            </a:r>
            <a:br/>
            <a:r>
              <a:t>Potencializando professores, não substituindo.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u="sng">
                <a:solidFill>
                  <a:srgbClr val="4A90D9"/>
                </a:solidFill>
                <a:latin typeface="Segoe UI"/>
                <a:hlinkClick r:id="rId2"/>
              </a:rPr>
              <a:t>ia-educacao-v2.onrender.com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Problema e Filosofia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90D9"/>
                </a:solidFill>
                <a:latin typeface="Segoe UI"/>
              </a:defRPr>
            </a:pPr>
            <a:r>
              <a:t>Por que o NOVO CR existe e como ele é diferente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002B5C"/>
                </a:solidFill>
                <a:latin typeface="Segoe UI"/>
              </a:defRPr>
            </a:pPr>
            <a:r>
              <a:t>O que acontece hoje na correção de provas?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Professores corrigem dezenas de provas entre uma aula e outra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Feedback para o aluno se resume a uma nota numérica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Não há tempo para analisar padrões de aprendizado da turma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Ferramentas automáticas substituem o professor — ou entregam checklists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O professor precisa de tempo, não de mais uma ferramenta</a:t>
            </a:r>
            <a:br/>
            <a:r>
              <a:t>que ele precisa aprender a usar.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Georgia"/>
              </a:defRPr>
            </a:pPr>
            <a:r>
              <a:t>"A IA assiste professores — ela não toma decisões finais.</a:t>
            </a:r>
            <a:br/>
            <a:r>
              <a:t>Professores sempre podem sobrescrever."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— Filosofia de Design, NOVO CR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Potencializar, Não Substituir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002B5C"/>
                </a:solidFill>
                <a:latin typeface="Segoe UI"/>
              </a:defRPr>
            </a:pPr>
            <a:r>
              <a:t>NOVO CR potencializa a correção do professor.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A IA assiste o professor. Ela nunca toma decisões finais.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O professor pode sempre revisar, modificar e sobrescrever qualquer resultado.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O sistema foi desenhado para que o professor não precise aprender IA.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Primeiro uso: zero configuração.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Revelação progressiva: mostre o essencial primeiro,</a:t>
            </a:r>
          </a:p>
          <a:p>
            <a:pPr>
              <a:spcAft>
                <a:spcPts val="96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revele complexidade sob demanda.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Mais que um Número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002B5C"/>
                </a:solidFill>
                <a:latin typeface="Segoe UI"/>
              </a:defRPr>
            </a:pPr>
            <a:r>
              <a:t>Alunos são mais que seu CR (Coeficiente de Rendimento).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O nome "NOVO CR" fala a linguagem das universidades —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administradores e coordenadores pensam em termos de CR.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Mas o sistema entrega muito mais que uma nota:</a:t>
            </a: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   entrega narrativas pedagógicas.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Cada relatório conta a história do raciocínio do aluno,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seus erros, seu potencial.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Narrativa Pedagógica, Não Checklists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C0392B"/>
                </a:solidFill>
                <a:latin typeface="Segoe UI"/>
              </a:defRPr>
            </a:pPr>
            <a:r>
              <a:t>ANTES: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✗  Checklist superficial: "acertou / errou / parcial"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✗  Sem análise do raciocínio do aluno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✗  Notas já fazem isso — o relatório deveria contar a história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1B8A4A"/>
                </a:solidFill>
                <a:latin typeface="Segoe UI"/>
              </a:defRPr>
            </a:pPr>
            <a:r>
              <a:t>AGORA — Arquitetura narrativa em 3 níveis: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1.  Microscópio por questão — o que o aluno pensava, tipo de erro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2.  Síntese de padrões — perfil de habilidades, consistência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3.  Narrativa holística — visão geral primeiro, detalhes depois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Georgia"/>
              </a:defRPr>
            </a:pPr>
            <a:r>
              <a:t>"Notas já lidam com números;</a:t>
            </a:r>
            <a:br/>
            <a:r>
              <a:t>este relatório conta a história</a:t>
            </a:r>
            <a:br/>
            <a:r>
              <a:t>da aprendizagem da turma."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— Filosofia de Design, NOVO CR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Confiança Através da Transparência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002B5C"/>
                </a:solidFill>
                <a:latin typeface="Segoe UI"/>
              </a:defRPr>
            </a:pPr>
            <a:r>
              <a:t>Nunca uma caixa preta.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Cada etapa do pipeline gera um documento visível e editável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O professor vê exatamente o que a IA produziu em cada passo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A qualidade da IA é verificada por humanos antes de ser liberada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Resultados que o professor pode confiar e defender para os alunos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Cada decisão de design responde a: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1. Isso dá aos alunos mais feedback?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2. Isso permite relatórios mais abrangentes?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3. Isso ajuda professores a entender o progresso dos alunos?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4. Isso torna a correção mais eficiente sem sacrificar qualidade?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Análise em Múltiplos Níveis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002B5C"/>
                </a:solidFill>
                <a:latin typeface="Segoe UI"/>
              </a:defRPr>
            </a:pPr>
            <a:r>
              <a:t>De uma questão até o currículo inteiro: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Questão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Raciocínio do aluno naquela questão específica</a:t>
            </a: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Aluno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Perfil completo: notas, habilidades, evolução</a:t>
            </a: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Atividade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Como a turma se saiu nesta prova</a:t>
            </a: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Turma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Evolução ao longo do tempo, erros persistentes</a:t>
            </a: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Matéria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Comparação entre turmas, eficácia do currículo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Flexibilidade Multi-Provedor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002B5C"/>
                </a:solidFill>
                <a:latin typeface="Segoe UI"/>
              </a:defRPr>
            </a:pPr>
            <a:r>
              <a:t>Sem dependência de um único provedor de IA.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OpenAI (GPT-4.1, o3)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Anthropic (Claude Opus, Sonnet, Haiku)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Google (Gemini Flash / Pro)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 Ollama (modelos locais)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Framework para experimentação com diferentes IAs</a:t>
            </a:r>
          </a:p>
          <a:p>
            <a:pPr>
              <a:spcAft>
                <a:spcPts val="96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na correção automatizada.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O professor não escolhe o modelo — o sistema escolhe o melhor.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Pesquisadores podem comparar resultados entre provedores.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Pipeline de Correção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90D9"/>
                </a:solidFill>
                <a:latin typeface="Segoe UI"/>
              </a:defRPr>
            </a:pPr>
            <a:r>
              <a:t>Como a IA processa uma prova em 9 etapas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Pipeline de Correção Automática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7029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A IA processa os documentos em 6 etapas sequenciais.</a:t>
            </a:r>
            <a:br/>
            <a:r>
              <a:t>Cada etapa gera um documento que o professor pode visualizar, editar e revisar.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Etapas 1-3: Extração de Documentos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Antes de corrigir, a IA precisa entender os documentos.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🔎  Etapa 1 — Extração de Questões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Lê o enunciado, identifica cada questão e classifica por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tipo de raciocínio: recuperação, compreensão, aplicação, análise, síntese.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🧩  Etapa 2 — Extração de Gabarito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Estrutura as respostas corretas, associa critérios de pontuação,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identifica respostas alternativas válidas.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📝  Etapa 3 — Extração de Respostas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Lê o que o aluno escreveu. Lida com caligrafia,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formatos variados e respostas parciais.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Etapa 4: Correção Narrativa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002B5C"/>
                </a:solidFill>
                <a:latin typeface="Segoe UI"/>
              </a:defRPr>
            </a:pPr>
            <a:r>
              <a:t>Não é um simples "certo ou errado".</a:t>
            </a:r>
          </a:p>
          <a:p>
            <a:pPr>
              <a:spcAft>
                <a:spcPts val="96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Para cada questão, a correção inclui: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✅  Nota com justificativa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✅  Análise do raciocínio — o que o aluno estava pensando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✅  Tipo de erro — conceitual, de execução, de interpretação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✅  Potencial demonstrado — o que o aluno quase acertou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Exemplo real (Cálculo 1, EPGE/FGV):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Q1 (0.75/1.5): "Conclusão correta de descontinuidade, mas justificativa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mistura conceitos. Regra da cadeia com erro de consistência."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Q5 (0.0/1.0): "Resposta ilegível — sem conteúdo para avaliação."</a:t>
            </a:r>
          </a:p>
          <a:p>
            <a:pPr>
              <a:spcAft>
                <a:spcPts val="960"/>
              </a:spcAft>
              <a:defRPr sz="1600" b="0">
                <a:solidFill>
                  <a:srgbClr val="1B8A4A"/>
                </a:solidFill>
                <a:latin typeface="Segoe UI"/>
              </a:defRPr>
            </a:pPr>
            <a:r>
              <a:t>↑ A IA identifica ilegibilidade e não inventa uma nota.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Etapas 5-6: Análise e Relatório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📊  Etapa 5 — Análise de Habilidades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Perfil de habilidades demonstradas vs. esperadas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Consistência de erros entre questões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Síntese pedagógica: pontos fortes e áreas de melhoria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📄  Etapa 6 — Relatório Final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Narrativa holística que combina nota, habilidades e análise: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   1.  Visão geral do desempenho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   2.  Análise detalhada por questão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   3.  Pontos fortes e áreas de melhoria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   4.  Recomendações específicas para o aluno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"Um relatório que posso mostrar ao aluno e aos pais."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Etapas 7-9: Relatórios de Desempenho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002B5C"/>
                </a:solidFill>
                <a:latin typeface="Segoe UI"/>
              </a:defRPr>
            </a:pPr>
            <a:r>
              <a:t>De uma prova para o currículo inteiro: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📋  Desempenho por Tarefa (Atividade)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Como a turma se saiu nesta prova específica.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Padrões de acerto/erro por questão com exemplos de alunos.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👥  Desempenho por Turma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Evolução ao longo do semestre. Erros persistentes.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Perfil coletivo: quem melhorou, quem está ficando para trás.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📚  Desempenho por Matéria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Comparação entre turmas. Eficácia do currículo.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Recomendações para ajuste pedagógico.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Relatórios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90D9"/>
                </a:solidFill>
                <a:latin typeface="Segoe UI"/>
              </a:defRPr>
            </a:pPr>
            <a:r>
              <a:t>Gerados automaticamente a partir de provas da EPGE/FGV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Estes Não São Mockups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 b="1">
                <a:solidFill>
                  <a:srgbClr val="002B5C"/>
                </a:solidFill>
                <a:latin typeface="Segoe UI"/>
              </a:defRPr>
            </a:pPr>
            <a:r>
              <a:t>Tudo que você vai ver foi gerado automaticamente</a:t>
            </a:r>
          </a:p>
          <a:p>
            <a:pPr>
              <a:spcAft>
                <a:spcPts val="960"/>
              </a:spcAft>
              <a:defRPr sz="1600" b="1">
                <a:solidFill>
                  <a:srgbClr val="002B5C"/>
                </a:solidFill>
                <a:latin typeface="Segoe UI"/>
              </a:defRPr>
            </a:pPr>
            <a:r>
              <a:t>pelo NOVO CR a partir de provas reais.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Dados: Cálculo 1, EPGE/FGV, turma 2021.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Baixados diretamente do sistema em produção.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60"/>
              </a:spcAft>
              <a:defRPr sz="1600" b="1">
                <a:solidFill>
                  <a:srgbClr val="0056A0"/>
                </a:solidFill>
                <a:latin typeface="Segoe UI"/>
              </a:defRPr>
            </a:pPr>
            <a:r>
              <a:t>Relatórios disponíveis: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•  Correção individual (por questão)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•  Análise de habilidades (perfil cognitivo)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•  Relatório final (narrativa para aluno e pais)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•  Desempenho por tarefa (visão da turma)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•  Desempenho por turma (evolução temporal)</a:t>
            </a:r>
          </a:p>
          <a:p>
            <a:pPr>
              <a:spcAft>
                <a:spcPts val="96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 •  Desempenho por matéria (eficácia curricular)</a:t>
            </a:r>
          </a:p>
        </p:txBody>
      </p:sp>
      <p:pic>
        <p:nvPicPr>
          <p:cNvPr id="6" name="Picture 5" descr="05_dashboar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Correção Individual — O Microscópio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0056A0"/>
                </a:solidFill>
                <a:latin typeface="Segoe UI"/>
              </a:defRPr>
            </a:pPr>
            <a:r>
              <a:t>Dados reais — Cálculo 1, EPGE/FGV:</a:t>
            </a:r>
          </a:p>
          <a:p>
            <a:pPr>
              <a:spcAft>
                <a:spcPts val="840"/>
              </a:spcAft>
              <a:defRPr sz="1400" b="1">
                <a:solidFill>
                  <a:srgbClr val="002B5C"/>
                </a:solidFill>
                <a:latin typeface="Segoe UI"/>
              </a:defRPr>
            </a:pPr>
            <a:r>
              <a:t>Nota final: 6.0/10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❌ Q1 (0.75/1.5): Q1a: conclusão correta de descontinuidade de f', mas a justificativa mistura con...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✅ Q2 (0.75/1.0): Q2a: correto que y = 4x+2x^2 não satisfaz a edp. Q2b: coeficientes incorretos; r...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✅ Q3 (1.0/1.5): Q3a: gráfico em V com vértice em (0,4), constante 4 para -2≤x≤2. Q3b: f'(-1)=0. ...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❌ Q4 (0.75/1.0): Q4a: cálculo da derivada da razão está quase completo; falta transcrição final d...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0056A0"/>
                </a:solidFill>
                <a:latin typeface="Segoe UI"/>
              </a:defRPr>
            </a:pPr>
            <a:r>
              <a:t>Feedback geral:</a:t>
            </a:r>
          </a:p>
          <a:p>
            <a:pPr>
              <a:spcAft>
                <a:spcPts val="840"/>
              </a:spcAft>
              <a:defRPr sz="1400" b="0">
                <a:solidFill>
                  <a:srgbClr val="666666"/>
                </a:solidFill>
                <a:latin typeface="Segoe UI"/>
              </a:defRPr>
            </a:pPr>
            <a:r>
              <a:t>O aluno demonstra domínio considerável de cálculo diferencial com bons resultados, identificando corretamente os pontos-chave. Houve alguns equívocos em justificativas (Q1, Q4) e uma área de incerteza...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u="sng">
                <a:solidFill>
                  <a:srgbClr val="4A90D9"/>
                </a:solidFill>
                <a:latin typeface="Segoe UI"/>
                <a:hlinkClick r:id="rId2"/>
              </a:rPr>
              <a:t>→ Ver relatório completo: 01_correcao_otavio.pdf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Desempenho por Tarefa — A Visão da Turma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4864" cy="201168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0056A0"/>
                </a:solidFill>
                <a:latin typeface="Segoe UI"/>
              </a:defRPr>
            </a:pPr>
            <a:r>
              <a:t>Trecho real do relatório gerado pelo sistema: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 Prova Álgebra-V revelou uma turma em **transição entre domínio operacional e formalização**. Os dados disponíveis mostram um contraste marcante: enquanto um aluno (Ana) demonstra excelência consolidada em todas as dimensões algébricas, o outro (Bruno) revela um padrão recorrente de competência conceitual mascarada por deficiências em documentação e completude de procedimentos.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056A0"/>
                </a:solidFill>
                <a:latin typeface="Segoe UI"/>
              </a:defRPr>
            </a:pPr>
            <a:r>
              <a:t>Diagnóstico gerado pela IA: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Turma em transição entre domínio operacional e formalização.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Excelência consolidada em alguns alunos vs. deficiências estruturais em outros.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Competência conceitual mascarada por deficiências em documentação.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u="sng">
                <a:solidFill>
                  <a:srgbClr val="4A90D9"/>
                </a:solidFill>
                <a:latin typeface="Segoe UI"/>
                <a:hlinkClick r:id="rId2"/>
              </a:rPr>
              <a:t>→ Ver relatório completo: Desempenho Tarefa (Matemática-V)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Desempenho por Matéria — Análise Cross-Turma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21945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4864" cy="21945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0056A0"/>
                </a:solidFill>
                <a:latin typeface="Segoe UI"/>
              </a:defRPr>
            </a:pPr>
            <a:r>
              <a:t>Trecho real — Síntese Cross-Turma (Matemática-V):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Matemática-V apresenta um quadro misto e polarizado. O aprendizado não é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uniforme: há alunos com domínio excepcional, mas também alunos com deficiências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estruturais significativas.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0056A0"/>
                </a:solidFill>
                <a:latin typeface="Segoe UI"/>
              </a:defRPr>
            </a:pPr>
            <a:r>
              <a:t>Comparação entre turmas (gerada automaticamente):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Alpha-V:  Média Álgebra 6.63  |  Média Geometria 6.88  |  Polarizado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Beta-V:   Média Álgebra ~5.6   |  Média Geometria ~5.95  |  Intermediário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002B5C"/>
                </a:solidFill>
                <a:latin typeface="Segoe UI"/>
              </a:defRPr>
            </a:pPr>
            <a:r>
              <a:t>Diagnóstico: não é um problema de capacidade cognitiva geral, mas de lacunas</a:t>
            </a:r>
          </a:p>
          <a:p>
            <a:pPr>
              <a:spcAft>
                <a:spcPts val="840"/>
              </a:spcAft>
              <a:defRPr sz="1400" b="1">
                <a:solidFill>
                  <a:srgbClr val="002B5C"/>
                </a:solidFill>
                <a:latin typeface="Segoe UI"/>
              </a:defRPr>
            </a:pPr>
            <a:r>
              <a:t>específicas, falta de metodologia, e deficiências em comunicação matemática.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u="sng">
                <a:solidFill>
                  <a:srgbClr val="4A90D9"/>
                </a:solidFill>
                <a:latin typeface="Segoe UI"/>
                <a:hlinkClick r:id="rId2"/>
              </a:rPr>
              <a:t>→ Ver relatório completo: Desempenho Matéria (Matemática-V)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Tudo Isso É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011680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Questão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25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Segoe UI"/>
              </a:defRPr>
            </a:pPr>
            <a:r>
              <a:t>Correção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Raciocínio, tipo de erro, potencial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325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4A90D9"/>
                </a:solidFill>
                <a:latin typeface="Segoe UI"/>
                <a:hlinkClick r:id="rId2"/>
              </a:rPr>
              <a:t>📎 Abrir PDF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2011680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67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Aluno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Segoe UI"/>
              </a:defRPr>
            </a:pPr>
            <a:r>
              <a:t>Análise de Habilidades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Perfil cognitivo, padrões, recomendações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4A90D9"/>
                </a:solidFill>
                <a:latin typeface="Segoe UI"/>
                <a:hlinkClick r:id="rId3"/>
              </a:rPr>
              <a:t>📎 Abrir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834640"/>
            <a:ext cx="2011680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443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Aluno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Segoe UI"/>
              </a:defRPr>
            </a:pPr>
            <a:r>
              <a:t>Relatório 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80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Narrativa completa para aluno e pais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4A90D9"/>
                </a:solidFill>
                <a:latin typeface="Segoe UI"/>
                <a:hlinkClick r:id="rId4"/>
              </a:rPr>
              <a:t>📎 Abrir 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11880"/>
            <a:ext cx="2011680" cy="5943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21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Turma × Atividade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657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Segoe UI"/>
              </a:defRPr>
            </a:pPr>
            <a:r>
              <a:t>Desempenho Tarefa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57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Padrões coletivos, exemplos específicos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657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4A90D9"/>
                </a:solidFill>
                <a:latin typeface="Segoe UI"/>
                <a:hlinkClick r:id="rId5"/>
              </a:rPr>
              <a:t>📎 Abrir PDF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389120"/>
            <a:ext cx="2011680" cy="5943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988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Turma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Segoe UI"/>
              </a:defRPr>
            </a:pPr>
            <a:r>
              <a:t>Desempenho Turma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434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Evolução ao longo do tempo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434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4A90D9"/>
                </a:solidFill>
                <a:latin typeface="Segoe UI"/>
                <a:hlinkClick r:id="rId6"/>
              </a:rPr>
              <a:t>📎 Abrir PDF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166360"/>
            <a:ext cx="2011680" cy="5943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760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Matéria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212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Segoe UI"/>
              </a:defRPr>
            </a:pPr>
            <a:r>
              <a:t>Desempenho Matéria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212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Eficácia do currículo entre turmas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4A90D9"/>
                </a:solidFill>
                <a:latin typeface="Segoe UI"/>
                <a:hlinkClick r:id="rId7"/>
              </a:rPr>
              <a:t>📎 Abrir 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6A0"/>
                </a:solidFill>
                <a:latin typeface="Segoe UI"/>
              </a:defRPr>
            </a:pPr>
            <a:r>
              <a:t>Tudo gerado automaticamente. O professor clica um botão e recebe narrativas pedagógicas reais.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O Sistema em Produção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dashboar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48640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90D9"/>
                </a:solidFill>
                <a:latin typeface="Segoe UI"/>
              </a:defRPr>
            </a:pPr>
            <a:r>
              <a:t>Dashboard</a:t>
            </a:r>
          </a:p>
        </p:txBody>
      </p:sp>
      <p:pic>
        <p:nvPicPr>
          <p:cNvPr id="6" name="Picture 5" descr="07_materia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4864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90D9"/>
                </a:solidFill>
                <a:latin typeface="Segoe UI"/>
              </a:defRPr>
            </a:pPr>
            <a:r>
              <a:t>Matéria / Turmas</a:t>
            </a:r>
          </a:p>
        </p:txBody>
      </p:sp>
      <p:pic>
        <p:nvPicPr>
          <p:cNvPr id="8" name="Picture 7" descr="08_turma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31920"/>
            <a:ext cx="548640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90D9"/>
                </a:solidFill>
                <a:latin typeface="Segoe UI"/>
              </a:defRPr>
            </a:pPr>
            <a:r>
              <a:t>Atividades</a:t>
            </a:r>
          </a:p>
        </p:txBody>
      </p:sp>
      <p:pic>
        <p:nvPicPr>
          <p:cNvPr id="10" name="Picture 9" descr="04_pipelin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931920"/>
            <a:ext cx="5486400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90D9"/>
                </a:solidFill>
                <a:latin typeface="Segoe UI"/>
              </a:defRPr>
            </a:pPr>
            <a:r>
              <a:t>Pipeline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NOVO 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90D9"/>
                </a:solidFill>
                <a:latin typeface="Georgia"/>
              </a:defRPr>
            </a:pPr>
            <a:r>
              <a:t>Mais que um Número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91840"/>
            <a:ext cx="2103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Potencializando professores, não substituindo.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Narrativas pedagógicas, não checklists.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Transparência total em cada etapa.</a:t>
            </a:r>
          </a:p>
          <a:p>
            <a:pPr>
              <a:spcAft>
                <a:spcPts val="12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2000" b="0">
                <a:solidFill>
                  <a:srgbClr val="4A90D9"/>
                </a:solidFill>
                <a:latin typeface="Segoe UI"/>
              </a:defRPr>
            </a:pPr>
            <a:r>
              <a:t>Sistema em produção com dados reais.</a:t>
            </a:r>
          </a:p>
          <a:p>
            <a:pPr>
              <a:spcAft>
                <a:spcPts val="1200"/>
              </a:spcAft>
              <a:defRPr sz="2000" b="0">
                <a:solidFill>
                  <a:srgbClr val="4A90D9"/>
                </a:solidFill>
                <a:latin typeface="Segoe UI"/>
              </a:defRPr>
            </a:pPr>
            <a:r>
              <a:t>ia-educacao-v2.onrender.com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